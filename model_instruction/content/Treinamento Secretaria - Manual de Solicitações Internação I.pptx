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66" r:id="rId6"/>
    <p:sldId id="277" r:id="rId7"/>
    <p:sldId id="278" r:id="rId8"/>
    <p:sldId id="279" r:id="rId9"/>
    <p:sldId id="280" r:id="rId10"/>
    <p:sldId id="281" r:id="rId11"/>
    <p:sldId id="282" r:id="rId12"/>
    <p:sldId id="302" r:id="rId13"/>
    <p:sldId id="283" r:id="rId14"/>
    <p:sldId id="268" r:id="rId15"/>
    <p:sldId id="269" r:id="rId16"/>
    <p:sldId id="270" r:id="rId17"/>
    <p:sldId id="303" r:id="rId18"/>
    <p:sldId id="272" r:id="rId19"/>
    <p:sldId id="273" r:id="rId20"/>
    <p:sldId id="274" r:id="rId21"/>
    <p:sldId id="275" r:id="rId22"/>
    <p:sldId id="284" r:id="rId23"/>
    <p:sldId id="285" r:id="rId24"/>
    <p:sldId id="286" r:id="rId25"/>
    <p:sldId id="287" r:id="rId26"/>
    <p:sldId id="288" r:id="rId27"/>
    <p:sldId id="301" r:id="rId28"/>
    <p:sldId id="300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8" r:id="rId37"/>
    <p:sldId id="299" r:id="rId38"/>
    <p:sldId id="296" r:id="rId39"/>
    <p:sldId id="257" r:id="rId40"/>
    <p:sldId id="267" r:id="rId41"/>
    <p:sldId id="297" r:id="rId4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81A64-769D-46FB-A9DD-CFB687E6E5C1}" type="datetimeFigureOut">
              <a:rPr lang="pt-BR" smtClean="0"/>
              <a:t>26/04/2025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E82-00C6-4726-A21D-6A44B33435E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8732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81A64-769D-46FB-A9DD-CFB687E6E5C1}" type="datetimeFigureOut">
              <a:rPr lang="pt-BR" smtClean="0"/>
              <a:t>26/04/2025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E82-00C6-4726-A21D-6A44B33435E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02178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81A64-769D-46FB-A9DD-CFB687E6E5C1}" type="datetimeFigureOut">
              <a:rPr lang="pt-BR" smtClean="0"/>
              <a:t>26/04/2025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E82-00C6-4726-A21D-6A44B33435E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2216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81A64-769D-46FB-A9DD-CFB687E6E5C1}" type="datetimeFigureOut">
              <a:rPr lang="pt-BR" smtClean="0"/>
              <a:t>26/04/2025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E82-00C6-4726-A21D-6A44B33435E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3504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81A64-769D-46FB-A9DD-CFB687E6E5C1}" type="datetimeFigureOut">
              <a:rPr lang="pt-BR" smtClean="0"/>
              <a:t>26/04/2025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E82-00C6-4726-A21D-6A44B33435E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408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81A64-769D-46FB-A9DD-CFB687E6E5C1}" type="datetimeFigureOut">
              <a:rPr lang="pt-BR" smtClean="0"/>
              <a:t>26/04/2025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E82-00C6-4726-A21D-6A44B33435E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84638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81A64-769D-46FB-A9DD-CFB687E6E5C1}" type="datetimeFigureOut">
              <a:rPr lang="pt-BR" smtClean="0"/>
              <a:t>26/04/2025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E82-00C6-4726-A21D-6A44B33435E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0685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81A64-769D-46FB-A9DD-CFB687E6E5C1}" type="datetimeFigureOut">
              <a:rPr lang="pt-BR" smtClean="0"/>
              <a:t>26/04/2025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E82-00C6-4726-A21D-6A44B33435E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0110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81A64-769D-46FB-A9DD-CFB687E6E5C1}" type="datetimeFigureOut">
              <a:rPr lang="pt-BR" smtClean="0"/>
              <a:t>26/04/2025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E82-00C6-4726-A21D-6A44B33435E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7687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81A64-769D-46FB-A9DD-CFB687E6E5C1}" type="datetimeFigureOut">
              <a:rPr lang="pt-BR" smtClean="0"/>
              <a:t>26/04/2025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E82-00C6-4726-A21D-6A44B33435E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790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81A64-769D-46FB-A9DD-CFB687E6E5C1}" type="datetimeFigureOut">
              <a:rPr lang="pt-BR" smtClean="0"/>
              <a:t>26/04/2025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E82-00C6-4726-A21D-6A44B33435E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7481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81A64-769D-46FB-A9DD-CFB687E6E5C1}" type="datetimeFigureOut">
              <a:rPr lang="pt-BR" smtClean="0"/>
              <a:t>26/04/2025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16E82-00C6-4726-A21D-6A44B33435E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693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supervisaocentral@ipsm.gov.br" TargetMode="External"/><Relationship Id="rId2" Type="http://schemas.openxmlformats.org/officeDocument/2006/relationships/hyperlink" Target="mailto:autorizacao.apto@ipsm.gov.br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usisaudesoc@fsfx.com.br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mailto:soniasoares.sepasi@hotmail.com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992777"/>
            <a:ext cx="9144000" cy="914400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sz="5400" b="1" dirty="0" smtClean="0"/>
              <a:t>TREINAMENTO</a:t>
            </a:r>
            <a:r>
              <a:rPr lang="pt-BR" sz="4800" b="1" dirty="0" smtClean="0"/>
              <a:t> </a:t>
            </a:r>
            <a:r>
              <a:rPr lang="pt-BR" sz="5400" b="1" dirty="0" smtClean="0"/>
              <a:t>SECRETARIA</a:t>
            </a:r>
            <a:endParaRPr lang="pt-BR" sz="5400" b="1" dirty="0"/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>
          <a:xfrm>
            <a:off x="857794" y="3615100"/>
            <a:ext cx="9144000" cy="1655762"/>
          </a:xfrm>
        </p:spPr>
        <p:txBody>
          <a:bodyPr>
            <a:normAutofit/>
          </a:bodyPr>
          <a:lstStyle/>
          <a:p>
            <a:r>
              <a:rPr lang="pt-BR" sz="4800" dirty="0" smtClean="0"/>
              <a:t>           1º Treinamento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423611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6" descr="C:\Users\lfreitas\Desktop\organização-de-temp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57826" y="4214814"/>
            <a:ext cx="5210175" cy="264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55575"/>
            <a:ext cx="8229600" cy="1252538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pt-BR" sz="4800" b="1" dirty="0">
                <a:solidFill>
                  <a:schemeClr val="bg1"/>
                </a:solidFill>
              </a:rPr>
              <a:t>SECRETARIA HOSPITALAR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14340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pt-BR" dirty="0" smtClean="0"/>
              <a:t>A seguir, trataremos de algumas questões baseadas nos objetivos abaixo descritos:</a:t>
            </a:r>
          </a:p>
          <a:p>
            <a:pPr eaLnBrk="1" hangingPunct="1">
              <a:buFont typeface="Wingdings 2" pitchFamily="18" charset="2"/>
              <a:buNone/>
            </a:pPr>
            <a:endParaRPr lang="pt-BR" dirty="0" smtClean="0"/>
          </a:p>
          <a:p>
            <a:pPr eaLnBrk="1" hangingPunct="1"/>
            <a:r>
              <a:rPr lang="pt-BR" dirty="0" smtClean="0"/>
              <a:t>Aprimorar nosso processo de trabalho </a:t>
            </a:r>
          </a:p>
          <a:p>
            <a:pPr eaLnBrk="1" hangingPunct="1"/>
            <a:r>
              <a:rPr lang="pt-BR" dirty="0" smtClean="0"/>
              <a:t>Organizar nosso atendimento</a:t>
            </a:r>
          </a:p>
          <a:p>
            <a:pPr eaLnBrk="1" hangingPunct="1"/>
            <a:r>
              <a:rPr lang="pt-BR" dirty="0" smtClean="0"/>
              <a:t>Diminuir perdas financeiras</a:t>
            </a:r>
          </a:p>
        </p:txBody>
      </p:sp>
      <p:sp>
        <p:nvSpPr>
          <p:cNvPr id="14341" name="AutoShape 5" descr="http://www.sbcoaching.com.br/blog/wp-content/uploads/2014/06/organiza%C3%A7%C3%A3o-de-tempo.jpg"/>
          <p:cNvSpPr>
            <a:spLocks noChangeAspect="1" noChangeArrowheads="1"/>
          </p:cNvSpPr>
          <p:nvPr/>
        </p:nvSpPr>
        <p:spPr bwMode="auto">
          <a:xfrm>
            <a:off x="1679575" y="-1600200"/>
            <a:ext cx="6572250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004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91440"/>
            <a:ext cx="10515600" cy="927463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>
              <a:defRPr/>
            </a:pPr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/>
              <a:t>Convênios atendidos:</a:t>
            </a:r>
            <a:r>
              <a:rPr lang="pt-BR" dirty="0" smtClean="0">
                <a:solidFill>
                  <a:schemeClr val="accent1">
                    <a:satMod val="150000"/>
                  </a:schemeClr>
                </a:solidFill>
              </a:rPr>
              <a:t/>
            </a:r>
            <a:br>
              <a:rPr lang="pt-BR" dirty="0" smtClean="0">
                <a:solidFill>
                  <a:schemeClr val="accent1">
                    <a:satMod val="150000"/>
                  </a:schemeClr>
                </a:solidFill>
              </a:rPr>
            </a:br>
            <a:endParaRPr lang="pt-BR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116196"/>
            <a:ext cx="8229600" cy="4918844"/>
          </a:xfrm>
        </p:spPr>
        <p:txBody>
          <a:bodyPr numCol="2" rtlCol="0">
            <a:normAutofit/>
          </a:bodyPr>
          <a:lstStyle/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pt-BR" dirty="0" smtClean="0"/>
              <a:t>Abramge</a:t>
            </a:r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pt-BR" dirty="0" err="1" smtClean="0"/>
              <a:t>Amagis</a:t>
            </a:r>
            <a:endParaRPr lang="pt-BR" dirty="0" smtClean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pt-BR" dirty="0" smtClean="0"/>
              <a:t>Cassi</a:t>
            </a:r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pt-BR" dirty="0" smtClean="0"/>
              <a:t>Copass </a:t>
            </a:r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pt-BR" dirty="0" smtClean="0"/>
              <a:t>Ipsemg</a:t>
            </a:r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pt-BR" dirty="0" smtClean="0"/>
              <a:t>IPSM</a:t>
            </a:r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pt-BR" dirty="0" smtClean="0"/>
              <a:t>Plancel</a:t>
            </a:r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pt-BR" dirty="0" smtClean="0"/>
              <a:t>Postal Saúde</a:t>
            </a:r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pt-BR" dirty="0" err="1" smtClean="0"/>
              <a:t>Sepasi</a:t>
            </a:r>
            <a:r>
              <a:rPr lang="pt-BR" dirty="0" smtClean="0"/>
              <a:t>			</a:t>
            </a:r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pt-BR" dirty="0" smtClean="0"/>
              <a:t>Unimed	</a:t>
            </a:r>
          </a:p>
          <a:p>
            <a:pPr marL="118872" indent="0">
              <a:spcBef>
                <a:spcPts val="0"/>
              </a:spcBef>
              <a:buNone/>
              <a:defRPr/>
            </a:pPr>
            <a:endParaRPr lang="pt-BR" dirty="0" smtClean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0853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C:\Users\User\Desktop\Índic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84537" y="2894230"/>
            <a:ext cx="3571885" cy="3571885"/>
          </a:xfrm>
          <a:prstGeom prst="rect">
            <a:avLst/>
          </a:prstGeom>
          <a:noFill/>
        </p:spPr>
      </p:pic>
      <p:sp>
        <p:nvSpPr>
          <p:cNvPr id="38915" name="Espaço Reservado para Conteúdo 2"/>
          <p:cNvSpPr>
            <a:spLocks noGrp="1"/>
          </p:cNvSpPr>
          <p:nvPr>
            <p:ph idx="1"/>
          </p:nvPr>
        </p:nvSpPr>
        <p:spPr>
          <a:xfrm>
            <a:off x="339635" y="1719263"/>
            <a:ext cx="10948851" cy="4457700"/>
          </a:xfrm>
        </p:spPr>
        <p:txBody>
          <a:bodyPr>
            <a:normAutofit fontScale="92500" lnSpcReduction="10000"/>
          </a:bodyPr>
          <a:lstStyle/>
          <a:p>
            <a:r>
              <a:rPr lang="pt-BR" dirty="0" smtClean="0"/>
              <a:t>Xerox da carteirinha do convênio;</a:t>
            </a:r>
          </a:p>
          <a:p>
            <a:r>
              <a:rPr lang="pt-BR" dirty="0" smtClean="0"/>
              <a:t>CPF e Identidade;</a:t>
            </a:r>
          </a:p>
          <a:p>
            <a:r>
              <a:rPr lang="pt-BR" dirty="0" smtClean="0"/>
              <a:t>Se criança certidão de nascimento;</a:t>
            </a:r>
          </a:p>
          <a:p>
            <a:r>
              <a:rPr lang="pt-BR" dirty="0" smtClean="0"/>
              <a:t>Cartão SUS;</a:t>
            </a:r>
          </a:p>
          <a:p>
            <a:r>
              <a:rPr lang="pt-BR" dirty="0" smtClean="0"/>
              <a:t>Preenchimento completo das guias e termos;</a:t>
            </a:r>
          </a:p>
          <a:p>
            <a:r>
              <a:rPr lang="pt-BR" dirty="0" smtClean="0"/>
              <a:t>Assinatura do paciente/responsável na guia e na ficha, </a:t>
            </a:r>
          </a:p>
          <a:p>
            <a:pPr marL="0" indent="0">
              <a:buNone/>
            </a:pPr>
            <a:r>
              <a:rPr lang="pt-BR" dirty="0" smtClean="0"/>
              <a:t>   termos </a:t>
            </a:r>
            <a:r>
              <a:rPr lang="pt-BR" dirty="0" smtClean="0"/>
              <a:t>e </a:t>
            </a:r>
            <a:r>
              <a:rPr lang="pt-BR" dirty="0" err="1" smtClean="0"/>
              <a:t>etc</a:t>
            </a:r>
            <a:r>
              <a:rPr lang="pt-BR" dirty="0" smtClean="0"/>
              <a:t> (devidamente preenchidos);</a:t>
            </a:r>
          </a:p>
          <a:p>
            <a:r>
              <a:rPr lang="pt-BR" dirty="0" smtClean="0"/>
              <a:t>Pedidos e solicitações devem ser legíveis;</a:t>
            </a:r>
          </a:p>
          <a:p>
            <a:r>
              <a:rPr lang="pt-BR" dirty="0" smtClean="0"/>
              <a:t>Atentar para datas das autorizações e validade das</a:t>
            </a:r>
          </a:p>
          <a:p>
            <a:pPr marL="0" indent="0">
              <a:buNone/>
            </a:pPr>
            <a:r>
              <a:rPr lang="pt-BR" dirty="0" smtClean="0"/>
              <a:t>mesmas;</a:t>
            </a:r>
          </a:p>
          <a:p>
            <a:pPr marL="0" indent="0">
              <a:buNone/>
            </a:pPr>
            <a:endParaRPr lang="pt-BR" dirty="0" smtClean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58091" y="155575"/>
            <a:ext cx="9888583" cy="1252538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>
              <a:defRPr/>
            </a:pPr>
            <a:r>
              <a:rPr lang="pt-BR" sz="4800" b="1" dirty="0"/>
              <a:t>Regras gerais</a:t>
            </a:r>
          </a:p>
        </p:txBody>
      </p:sp>
      <p:sp>
        <p:nvSpPr>
          <p:cNvPr id="2050" name="AutoShape 2" descr="data:image/jpeg;base64,/9j/4AAQSkZJRgABAQAAAQABAAD/2wCEAAkGBw8PEA4QDhAQDw8PDg0NDw8NDxANDwwPFBEWFhQRFBQYHCggGBoxGxQUITEhJSkrLi4uFx81ODMsNygtLisBCgoKDg0OGhAQGiwkHyQsLC8sLywsLCwsLiwsLCwsLCwsLCwsLCwtLC0sLCwsLSwsLCwsLCwsLCwsLCwsLCwsLP/AABEIAOEA4QMBEQACEQEDEQH/xAAcAAEAAQUBAQAAAAAAAAAAAAAAAQIDBAYHBQj/xABJEAABAwICBgYFCAYIBwAAAAABAAIDBBESIQUGMUFRcQcTImGBkRQVUqHRIzJCYoKSscFDcqKjsvAWJTNUc5PC4SREU4OElPH/xAAbAQEAAgMBAQAAAAAAAAAAAAAAAQQCAwUGB//EADYRAQACAgECAwUGBQMFAAAAAAABAgMRBAUSITFBEyIyUXEGYYGRsdEUIzRCwVLh8BYkM3Kh/9oADAMBAAIRAxEAPwDuCAgICAgICAgICAgICAgICAgICAgICAgICAgICAgICAgICAgICAgICAgICAgICAgICAgICAgICCUEICAgIJQQgICAglAQQgICCUEIMbSNfFTRPmneI42C7nH8AN57lja0VjctuHDfNeKY43MuY6d6RKmYkUlqaHMB7gHTSDjnkz3lc/Jy7T8PhD2HD+zuKkbz+9b5R5R+7T6vTlU83NVUu7zPLbwF7BVLZrz6y7+Lp/GpGvZ1/KF/R2smkISDHVzfqyvMrD3WfdTXPkr5S18jpfCyx72OPw8P0b3q50lBzmxaRY2ImwFRH/ZE/WH0eezkr2LmRPhfweY5/wBnLUib8ae6Pl6/7uiNcCAQQQQCCMwRxV55eYmJ1KUQICAgICCUEICAgICAgICAgICAgICAghxABJyAFyTsARMRvwhwjXvWp2kKghjj6LC4iFu55FwZT3ndwHMrkcnNOS2o8n0Lo3Tq8TF3Wj358/u+5rjpSVXdmJhRiUaT3suGZpFiM+KSxWZJyLg9pvfuTSdx5uj9FGtJxCgmddpBNK5xzaQCXRcrZjkRwXQ4eb+yfweR+0XTo/qccf8At+/7upLoPIiAgICAgICAgICAgICAgICAgICAgINU6TtJmm0bOWmz5i2nb3B57X7IctHIt20l0+j4Yy8qsT5R4/k4GHLk6fQe9ebJYJo7loyJo71+jlAd2tidp36UzSAuNtiaO8pqp8MjJYzhfG9sjTwc03CmszE7hry1rkpNLeUw+mqCqE0UUrdksbJBycAV24ncbfMslJpeaz6L6lgICAgICAgIJQEBBCAgIPP1h0iaWlqagDEYYnvA3EgZX7rrC9u2syscXDGbNXHM+cuEO1vr2S9c2pmMhdiIdI8x7fm9XfDbusuVXLk33be+y9P4ns/ZRjj/AD+bt2qWn2aQpY5m2Elg2aPfFKB2hbhvHcQupjyReu4eE5vEvxss0t+H3wuaV1joqR7Y6mdkT32IDrmwOwusOyO8pbLSs6mUYODyM9ZvjpMxD1WkEAjMEXBG8LYqz4CAg5z04X9DprbPShf/AC32VblfA7nQZiORP0cYLrLn6eu70Y1Gk94HKdI70tfZETZIkzSYIsl0mRUaT3vpLUwEaOoA7b6JT3v+oF18fwQ+f82d8jJP3z+r2VmqpQQgICCUEIJQQglAQQgICDE0vRCop54Dslikjz3YmkXUWjcTDZhyTjyVvHpL5xihLHOZI0tmjLmOa7a1wyI5rh3iazp9P496Zaxevjt6VBpd9E8S08hiksAQyzmyD2XtORCnHktSd1a+XxcXIr2ZY3H/ANj6LWnNKPrqiSqeA0yNiaWi5BLWBhtw2Xt3rLLk753LDgcX+Gx+yidxuXbdQ9JCpoKd3042+jyDg+PsnzsD4rq4b91Il4LqeD2HJvX79/m99bVBKDUulHRpqNGVGAXfAWVLRxEZu8fdLlqzV7qSv9Nzey5FZn18HBZWAtBG8XC5unse9YEanR3rUhsU0d6MaaO9BcmjvZGiqKSqnhp4s3zSNjbvtc5u5AXPgsq13OmrNnjHSbT6PqimhbGxkbfmsa1jeQFgupDwtp3MzK4iBAQEBBKCEBAQEBAQEBAQc/6SNR3Vf/F0YtVMHykYy9JaNlvrjdx2KtnwRfxjzdnpfVLcaey0+7+jkLI+2WShzHgkOa4FpDhtuDs5Lm2pNXtcPIpmjcSyDC2PZex8VrlarDq/Q49votUwOuW1RNjtAdGyxt4HyXU4c+48P9oqTXkxPzhv6tvPiCHNBBBFwQQQdhHBB896+6rv0bUlrQfRJnOfTP3NvmYSeI3cR4qlkx9svT8Lm+1pqfOP+bazI4tC1aX4swppLlNHctYk0d4ZE0jvdo6GtTnRD1jUtwve0tpWOFnMYcnSkbiRkO6/FWsOPXjLg9S5nf8Ay6+Xq6qrDkCAgICAgICAgICAgIJQQgICDXtZdTKLSF3TR4JrWE8NmSi2y5tZ3iCsL46281rj8zLgn3J/ByHXbViq0SWuLhUUshLWTYbOY72JBuPA77Khl40V8XquB1mc0ds+bC1N1sl0fUibN8TwGTxg/PjvkW/WG0ePFY4r+ylu5/Hjm4+2fOPKX0BonSkFXE2ankbJG7eNrTva4bj3LpVtFo3DxWbBfDeaXjUsxZNQgw9MaMgq4XwVLA+J4zDssJ3OafouG0EbFExEx4s8d7UtFq+b501p0XHSVU1PFMKiNjhhe0tJsfouIyxDYbLn5ZittQ9hwq3zYovaNPDkpiTZoPJa++FqeNZFPoqolkZDDG6SWR2FjGC5cf53rZSe6dQq56TirNreTr2o3RK2FzKjSZbLICHMpm9qJh3GQkds92zmrdMWvGXn+T1Cbe7Twh1YCy3OYICAgICAgICCUEICAglBCAglAQQg8XXPRAraGpgtdzoy+PulZ2me8W8VhevdWYb+Ll9llrZ81DKzm7CAbLm2h7jFZ7egNZaiheZKSTq8TcL2OGON5vtLTv79qit7Y/hZZuJh5Uayx5Nmb0qaS3+jcxE4H+NbP4vIp/8AT/E+c/ms1HSPpJ+XWhgP/TZGPeWkrGeVkn1bqdD4cf2zP4y82r0xNUD5aonkB2tfLIWfdBt7lrnLafOV7HwOPj+Gkfk8mpw7GgAd2S1zK1FFgNso2y7Ei4IcCWuBuHNJaQeIISLTHkxthraNTG23ava/aQpS1r3+lxDIxzm77fVk2353VinKvXz8XJ5XQePmjdPdn7vL8nX9XNYIK+LrISQW2Ekb8nxO4H4jIro48tckbh43m8LLxMnZkj6T6S9VbFQQSgIIQEEoIQEBAQEBAQEBAQEBBxvXDozqWyzz0eCSB7ny9WXiN8N8y3tZFt72z4ZKrfBO9w73F6rWKxW/nDQX6ImhbiqYKhozLcEL3NeAbXEgGG11jXj+tm7N1eY93FG5YPWMcThBZbLCbuI5rTkpXfur/E5OXs/mz4rrSb2K0WjTrYMneyWOsta7CoqGSklDalxNr2UxG2u19LTZyDtWXa1Rm8WyaoawuoKqOouTE/5OoaM8TDtNuIOY/wB1ngyezurdS4cczBNfWPGPq+g45A4BzSHNcA5pGYIOwhdh86mJidSqRAgICAgICAglAQEEIJQEEIJQEGDNVSOc6Ona0lhAfLKSI2OIvhAGb3WIyyGe1BDNGNJDp3GdwzAksImH6sYy8Tc96DOsg8zSGrtDUf29LTyH2nRMxjk61womsS2Vy3r5TLkvStqvS0D6SSkYYxN17ZGl7ntu3AW4cRNtrlR5VIjUw9P0Hk3yTat53rX+WjNKpPURZXI5RpPct3up0xmya2fc3JrRbmVnWFbLfwYFOS/HYE4bEkAkNByFzuzW+aeG3Mjk/wAztZlJJe7TsPuO5VrQ7GHJuHaeiLT/AF1O6jkPytL/AGd9roCcvI5ci1dDiZe6vbPo8l9oOF7LN7aseFv1/wB3QVbeeEBBCCUBAQEEICAgICAgIMSrr2xuwm17A7QomUrPrZvd5j4qNmlmmrmRhwGeJ75CSRe7nX/28E2aXvWrf5t8U2aPWjf5t8U2aT60bw/D4qdmmu636Fp9KCATSSx9SZHN6rB2sQAN734LVkpGTzXeFzb8SZmkR4/NrY6NKH+8VP7n4LT/AAtHS/6gz/KP+fi1PWPVcROf6K98oYSC2TDiNt7SNvJa78bUbqucTrvfbtyxr72rMOY5qtp3pvuNwofsWUNOTyb50R6EjrINNQvteWOnjacrxuHWOY8fasfBXcUd1Zh5bqGScWato9GiVETopXxvGFzHuY5p+i9pIcPMFU7109HxcvdETD39WtLPo6iGoZm5jhiF8pYzk5nO3vAWul5x37l7lcavLwWxW/D6voTRmkIqmKOaF2KORuIHYRxBG47rLsVtFo3D5xnw3w5Jx3jUwt6Y0vT0cZlqZGxsGy+bnng1ozJ5Ja8VjcpwcfJnv2Y43LnWluly2IUtPxDX1Dtvfgb8VTtzP9MPRYvs9ERE5r/hH7tJo9N1+kdIUzRNK+V88eHC4tbE0OBc4NGTWgXPgtde+94mZXs38LxuPatKx5T9X0Suk8SICAgICAgICAgINP100RM94nhi64YA17WntttexDb5jPcmjbRX6Qa0kOjLXA2IdiBB4EHYo0naPWTPY97vimjafWcfsH7zvimjZ6zj9k/ed8U7TcnrSP2T953xTR4nrWP2Xfecmk+J62i4O+89NHitx1zHE52zNr8OagefpjQrZj1kdmy7/Zl58D3rRlwxbxjzdfgdTth9y/jX9GoyxuaS14LXNJBaciFSmJidS9PW9cle6s7ht/Q7pkUukTC82jrWCH/vNN4/xcPtBWsF9Tpw+rYO6ndHo9npa1OlbM6up2F8UgDpxGMToJBYF5G9pyudxB4rLNi34w0dM50Vr7O0/RziKUtyOzcVRtR6nByIlsurmuVTo4PELmuZJmY5BiYH2tjFswcuOanFlvj8Ia+dwuPzNWyecesPE03p2prZTLUSGR+Ybewawey1oyAU2tN53ZjhxY+PXsxRpl6o6vxV1UyOqqRTw4S9xLg18puLRsJyueK2Ye2Z1Kl1Kc2PH30iZ/w79q9qxQ6PbajgZGSLOkzfLINvae65I7ti6EViPJ5HJmvkn3pewsmoQEEoCAgICAgICAg87SuhKaqFp4muOwPHZkbycM0Gj6b1N9Ea6WKQyQ3aC147cdzYG4yI2Dcg8LqBwQR1A4BA9HHAeSCPRhwHkgwtM09oX2yPZsRkdqJhrrKpzfnZ942qE7elTV7m2tmNtjs8k0nSuuhhqm59iQCzX/keIWrJii8L3D51+Nb5x8mpPL4JQ5uUkMoII2B7HXB8wqMbrL1Forlx79Jh9UUU4liikGySNkg5OaD+a6ceMPEWjttMNA176N4qhr6igY2Kozc+BtmxVPGw+i/lkd/FasmKLR4OjwuoWxTFb+TiUjC1zmuBDmktIcCHNINiCDsK58xp6zHfuruEBqjbZFV6N3HYsJhvpaYbrqn0gVVHhjcfSKcfo5D2mD6jt3I5clux8i2PwnxhQ5nSMHL8a+7b5+k/V2XV/TsFfF1sBOVg9jrB8TrXwuH8groY8lckbh47mcPLxcns8kftL1FsVRAQQgIJQEBBCCUEIJQY9dTCaOSN2x7S3kdx80HLnxEEgixBII4EbUFOBAwIGBBhaZZ8if1mqBqtWwNa5x2NaT5BRM6hsx17rRDXvSpD82R4PDEVTm1vm9JTDi/0wqjrJPbd5lYTkt81uvFwT/bA84rk5k3JJ3lal2IiI1D6R1Aqet0ZQOvc+jsYebOyf4V08U7pDxPNr28i8fe99ZqrnHSP0d+ll1XQgNqrXlhya2qtvB3P55Hu2qvmw93jHm6/TupTg9y/w/o4xUxvje6OVro5GEtex4LXNPAhUZrMTqXqqZq3r3VnwWsSjTLuVB9k1tl39rtHQjRStpqioeCGTyNbFf6bYwQXjuuSPsq9xqdsTLy3XOTGXJWsejpSsuGhAQSgICCEEoIQEBAQSg5/rNS9XUycH2kHiM/eCg8ohRsLJsLJsYOmR8l9pv4FEw1DT0mCCQ9wb5kBY38ljjRvJDXYS17Q5rSMy25BsSACRfYciPMKrMO7jtudLTjmtUr+OV6MrXK1Dv8A0QvvomnHsyVLf3zz+a6GD4IeR6rGuTZua3OcIPB1m1QotIgekR/KNFmzRnBK3uv9IdxusLY6281nBy8uD4JaFW9DJv8AIVow+zPT3cPtNcAfILTPGj0l0qdZtHxVZFB0MxBzTVVj5WgtJjghFO1wG1pcXOPiLLKvHrDTk6tlt5Rp0+lp2RMZHE0Mjja1jGNFmsaBYABb/Jy5tNp3K4iBBKAgICAgICAgICAg1PXuGwgkH1oz+I/1KJTDUusWLI6xA6xDTE0q68f2gphDTtZYnyMihiaXyTTxxsYNr3G9h52WGTy0ucPUWm0+kN6151VioNB0kbAC+lqInyPH6SSW7ZHE8LuA5AcFjkrqjbw8025G/m5FNk481Ul6CiuJa5W6O99DR/qwd1TUD3g/mr/H+B5XrH9TP0hvK3uWlAQEBAQEBAQQgICAgICAgICCUHha6Q4qOQ743MkHnY+4lRKYc26xQyTjQOsQWax12+IQl6eoGhBUVrKh4vHRte9t9hnf2W+TcZ5kJrxZxftpMR6tn6XR/U9Z3OoyP/aiWOX4ZbOF/wCer54nPaPgqUvUUVQrXK3R3voZH9Wf+VP/AKVe4/wPLdY/qZ+kN6W9yxAQEBAQEBBKCEEoCCEBAQSgIIQSgwdORY6apbxhktzDSR+CDj+JYsjEgYkFMxy8Qg3/AKMo7U0zvaqCPJjfiphEszpHpet0VXt22h60DiYntkHvYFjkjdZb+LbtzVn73zZUWxZcFRepqmErXK5jfQHQ7b1XHbb19Tfnj+Fle4/wPLdY/qZ+kN3W9y0ICAgICAgIJQQglAQQgICAglBCCUFErbtcOLSPMIOIkWuOBssWSEEoKX7EHTOjtlqIH2ppXe8N/JTDGXr6fix0lW3bipp2+cZSfJnjnV4+r5RBvbkFzpexp4r8YWErNYd86GQfVg76mcj9kfkr3H+B5brE/wDcz9Ib0t7liAgIJQEBBCCUEIF0BAQLoF0BBF0E3QLoCDilW20kg4SPH7RWLJasgWQQ4IOpaittQwd5lPnI5ZQxl7NW28cg4xvHm0qJ8mVPih8kwjIcgudZ7PDHgyYx+S1ytVh9BdEjLaJpvrPqnfv3j8AF0MHwQ8j1Wd8qzcbrc5xdAQEBAQEBAQU3QRdADkC6BdBF0DEgY0DEgjGgB6Dj1cPlZf8AFk/iKxZLGFElkFLxl4oh1HU42oqf9Vx/bKyYvSrpwyKVx2NikcfBpKifJnj+KPq+VqWI4b9wC5lpe4wY51DK6nCBfaSTbu3Fa9rUY9O8dFMwOiqYb2uqGHuPXPP4Eea6WCfch4zq1ZryrNvD1uc0xIGJAxIJxIGJAxIJugXQW8SCMSCC5BBegjGgjGggyIKTKggzIKevQUmpCDl1Rm954vcfeVgzW8KBhQUzNyHP8lKJbvqdXOFI1smWGSVrL5Yo8VwfeR4KYTfXo0XpQ1xldOaGB5ZFG1nXlpsZ3uAcGE+yARlvub7FVz3n4Yd3pXFp2+1tHj6NDinaScVjlluGW6wVKYl6amSB0gPLd3LHTf3RMOidDumi2SopHG7XN9Jj+q4ENf5gt8ld4tp+F5nr+Cuq5Y8/KXVBUK68wnrkFQlQVdagnrEEiRBONBONAxoKboKSUFJcgpLkFJKChzygoLigtukQYFXpeGJwbK/AS0O+a45XI3DuQYkmmInfNqom82uv71CdMSV4f/z0X+aI0GAdCX+bUwO5StP5KNJ2HV+fc+I8nA/mmjaP6PVW4MPL/wCpo2pk1dqXAAtAzJvtTRtkxaPMDQJaiKMDi7tHwupQ1rTOqcFbM58E7i9wBeXRHASAACDyA8lrtii07XsHOvir2+jAb0YVH96jt/hO+K1/w8LcdYtH9rPpOjAZddUvd3RtDAfO6mOPVhfrGafLwbbq/qxBQ3MDSHOAa57jic4cLnct1aRXyc/Nycub4522BgKyaF5t0FxqCsIKwgqCCsBBICBZBXhQQWIILUEFiCOrQUmJBSYUEGBBafRtO1oPMAoLL9FxHbGw82NQWXaCpzthj+4Agsu1bpj+ib4XCaNrR1WptzCOTnBRo2oOq0O4yt5SFNJ2f0Zbs66otvHWmxTRtcg1ap2Z4MR4v7Z96lDOZQNGwADuFkFwUqCoU6CrqEFQiQVCJBUI0FQYgkNQVBqCQ1BNkE2QXbIGFAIQRhQMKCMKBhQRhQMCBgQQWIGBA6tBGBAwIHVoI6tBOBBGBBPVoGBAwIAYgqwoGFAwoJsgWQTZBWgWQLIFkCyBZAsgAIIsgWQTZBFkCyBZAsgWQLIFkCyCLIFkCyCbIFkCyBZAsgWQLIKkBAQEBAQEBAQQgICAgICAgICAgICAgICAgICAgIP/2Q=="/>
          <p:cNvSpPr>
            <a:spLocks noChangeAspect="1" noChangeArrowheads="1"/>
          </p:cNvSpPr>
          <p:nvPr/>
        </p:nvSpPr>
        <p:spPr bwMode="auto">
          <a:xfrm>
            <a:off x="1679575" y="-1576388"/>
            <a:ext cx="3295650" cy="32956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313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55575"/>
            <a:ext cx="8229600" cy="1059271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>
              <a:defRPr/>
            </a:pPr>
            <a:r>
              <a:rPr lang="pt-BR" dirty="0" smtClean="0"/>
              <a:t/>
            </a:r>
            <a:br>
              <a:rPr lang="pt-BR" dirty="0" smtClean="0"/>
            </a:br>
            <a:r>
              <a:rPr lang="pt-BR" sz="5300" dirty="0" smtClean="0"/>
              <a:t>O que ainda </a:t>
            </a:r>
            <a:r>
              <a:rPr lang="pt-BR" sz="5300" dirty="0"/>
              <a:t>tem ocorrido?</a:t>
            </a:r>
            <a:br>
              <a:rPr lang="pt-BR" sz="5300" dirty="0"/>
            </a:br>
            <a:endParaRPr lang="pt-BR" sz="5300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1536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554480"/>
            <a:ext cx="10515600" cy="4741817"/>
          </a:xfrm>
        </p:spPr>
        <p:txBody>
          <a:bodyPr>
            <a:noAutofit/>
          </a:bodyPr>
          <a:lstStyle/>
          <a:p>
            <a:pPr eaLnBrk="1" hangingPunct="1"/>
            <a:r>
              <a:rPr lang="pt-BR" sz="2000" b="1" dirty="0" smtClean="0"/>
              <a:t>Clientes eletivos internando ou realizando procedimento ambulatorial sem autorização ou sem guia original;</a:t>
            </a:r>
          </a:p>
          <a:p>
            <a:pPr marL="0" indent="0" eaLnBrk="1" hangingPunct="1">
              <a:buNone/>
            </a:pPr>
            <a:endParaRPr lang="pt-BR" sz="2000" dirty="0" smtClean="0"/>
          </a:p>
          <a:p>
            <a:pPr eaLnBrk="1" hangingPunct="1">
              <a:lnSpc>
                <a:spcPct val="50000"/>
              </a:lnSpc>
            </a:pPr>
            <a:r>
              <a:rPr lang="pt-BR" sz="2000" b="1" dirty="0" smtClean="0"/>
              <a:t>Autorização parcial;</a:t>
            </a:r>
          </a:p>
          <a:p>
            <a:pPr eaLnBrk="1" hangingPunct="1">
              <a:lnSpc>
                <a:spcPct val="50000"/>
              </a:lnSpc>
              <a:buFont typeface="Wingdings 2" pitchFamily="18" charset="2"/>
              <a:buNone/>
            </a:pPr>
            <a:endParaRPr lang="pt-BR" sz="2000" b="1" dirty="0" smtClean="0"/>
          </a:p>
          <a:p>
            <a:pPr eaLnBrk="1" hangingPunct="1">
              <a:lnSpc>
                <a:spcPct val="50000"/>
              </a:lnSpc>
            </a:pPr>
            <a:r>
              <a:rPr lang="pt-BR" sz="2000" b="1" dirty="0" smtClean="0"/>
              <a:t>Falta de termo de parto e/ou termo de Laqueadura e/ou Vasectomia;</a:t>
            </a:r>
          </a:p>
          <a:p>
            <a:pPr eaLnBrk="1" hangingPunct="1">
              <a:lnSpc>
                <a:spcPct val="50000"/>
              </a:lnSpc>
            </a:pPr>
            <a:endParaRPr lang="pt-BR" sz="2000" b="1" dirty="0"/>
          </a:p>
          <a:p>
            <a:pPr eaLnBrk="1" hangingPunct="1">
              <a:lnSpc>
                <a:spcPct val="50000"/>
              </a:lnSpc>
            </a:pPr>
            <a:r>
              <a:rPr lang="pt-BR" sz="2000" b="1" dirty="0" smtClean="0"/>
              <a:t>Falta de assinatura nos termos citados acima;</a:t>
            </a:r>
          </a:p>
          <a:p>
            <a:pPr eaLnBrk="1" hangingPunct="1">
              <a:lnSpc>
                <a:spcPct val="50000"/>
              </a:lnSpc>
              <a:buFont typeface="Wingdings 2" pitchFamily="18" charset="2"/>
              <a:buNone/>
            </a:pPr>
            <a:endParaRPr lang="pt-BR" sz="2000" b="1" dirty="0" smtClean="0"/>
          </a:p>
          <a:p>
            <a:pPr eaLnBrk="1" hangingPunct="1">
              <a:lnSpc>
                <a:spcPct val="50000"/>
              </a:lnSpc>
            </a:pPr>
            <a:r>
              <a:rPr lang="pt-BR" sz="2000" b="1" dirty="0" smtClean="0"/>
              <a:t>Falta de assinatura do paciente na guia;</a:t>
            </a:r>
          </a:p>
          <a:p>
            <a:pPr eaLnBrk="1" hangingPunct="1">
              <a:lnSpc>
                <a:spcPct val="50000"/>
              </a:lnSpc>
            </a:pPr>
            <a:endParaRPr lang="pt-BR" sz="2000" b="1" dirty="0" smtClean="0"/>
          </a:p>
          <a:p>
            <a:pPr eaLnBrk="1" hangingPunct="1">
              <a:lnSpc>
                <a:spcPct val="50000"/>
              </a:lnSpc>
            </a:pPr>
            <a:r>
              <a:rPr lang="pt-BR" sz="2000" b="1" dirty="0" smtClean="0"/>
              <a:t>Falta dos exames de imagens e laudo;</a:t>
            </a:r>
          </a:p>
          <a:p>
            <a:pPr eaLnBrk="1" hangingPunct="1">
              <a:lnSpc>
                <a:spcPct val="50000"/>
              </a:lnSpc>
            </a:pPr>
            <a:endParaRPr lang="pt-BR" sz="2000" b="1" dirty="0" smtClean="0"/>
          </a:p>
          <a:p>
            <a:pPr eaLnBrk="1" hangingPunct="1">
              <a:lnSpc>
                <a:spcPct val="50000"/>
              </a:lnSpc>
            </a:pPr>
            <a:r>
              <a:rPr lang="pt-BR" sz="2000" b="1" dirty="0" smtClean="0"/>
              <a:t>Falta do carimbo e assinatura do médico na guia;</a:t>
            </a:r>
          </a:p>
          <a:p>
            <a:pPr marL="0" indent="0" eaLnBrk="1" hangingPunct="1">
              <a:lnSpc>
                <a:spcPct val="50000"/>
              </a:lnSpc>
              <a:buNone/>
            </a:pPr>
            <a:endParaRPr lang="pt-BR" sz="2000" b="1" dirty="0" smtClean="0"/>
          </a:p>
          <a:p>
            <a:pPr eaLnBrk="1" hangingPunct="1">
              <a:lnSpc>
                <a:spcPct val="50000"/>
              </a:lnSpc>
            </a:pPr>
            <a:r>
              <a:rPr lang="pt-BR" sz="2000" b="1" dirty="0" smtClean="0"/>
              <a:t>Falta de preenchimento completo da guia;</a:t>
            </a:r>
          </a:p>
          <a:p>
            <a:pPr eaLnBrk="1" hangingPunct="1">
              <a:lnSpc>
                <a:spcPct val="50000"/>
              </a:lnSpc>
            </a:pPr>
            <a:endParaRPr lang="pt-BR" sz="2000" b="1" dirty="0"/>
          </a:p>
        </p:txBody>
      </p:sp>
      <p:pic>
        <p:nvPicPr>
          <p:cNvPr id="15364" name="Picture 5" descr="http://rs728.pbsrc.com/albums/ww286/fleacoffee/smiley_afraid.gif%7Ec20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06990" y="3925388"/>
            <a:ext cx="2246810" cy="2173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91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59222"/>
            <a:ext cx="10515600" cy="1325563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>
              <a:defRPr/>
            </a:pPr>
            <a:r>
              <a:rPr lang="pt-BR" dirty="0" smtClean="0">
                <a:solidFill>
                  <a:schemeClr val="bg1"/>
                </a:solidFill>
              </a:rPr>
              <a:t/>
            </a:r>
            <a:br>
              <a:rPr lang="pt-BR" dirty="0" smtClean="0">
                <a:solidFill>
                  <a:schemeClr val="bg1"/>
                </a:solidFill>
              </a:rPr>
            </a:br>
            <a:r>
              <a:rPr lang="pt-BR" dirty="0" smtClean="0">
                <a:solidFill>
                  <a:schemeClr val="bg1"/>
                </a:solidFill>
              </a:rPr>
              <a:t>Unimed</a:t>
            </a:r>
            <a:r>
              <a:rPr lang="pt-BR" dirty="0" smtClean="0">
                <a:solidFill>
                  <a:schemeClr val="accent1">
                    <a:satMod val="150000"/>
                  </a:schemeClr>
                </a:solidFill>
              </a:rPr>
              <a:t/>
            </a:r>
            <a:br>
              <a:rPr lang="pt-BR" dirty="0" smtClean="0">
                <a:solidFill>
                  <a:schemeClr val="accent1">
                    <a:satMod val="150000"/>
                  </a:schemeClr>
                </a:solidFill>
              </a:rPr>
            </a:br>
            <a:endParaRPr lang="pt-BR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84785"/>
            <a:ext cx="9829800" cy="5184575"/>
          </a:xfrm>
        </p:spPr>
        <p:txBody>
          <a:bodyPr rtlCol="0">
            <a:normAutofit/>
          </a:bodyPr>
          <a:lstStyle/>
          <a:p>
            <a:pPr marL="576072" indent="-457200">
              <a:spcBef>
                <a:spcPts val="0"/>
              </a:spcBef>
              <a:defRPr/>
            </a:pPr>
            <a:endParaRPr lang="pt-BR" sz="2400" dirty="0" smtClean="0"/>
          </a:p>
          <a:p>
            <a:pPr marL="576072" indent="-457200">
              <a:spcBef>
                <a:spcPts val="0"/>
              </a:spcBef>
              <a:defRPr/>
            </a:pPr>
            <a:r>
              <a:rPr lang="pt-BR" sz="2000" u="sng" dirty="0" smtClean="0">
                <a:solidFill>
                  <a:srgbClr val="FF0000"/>
                </a:solidFill>
              </a:rPr>
              <a:t>Ter </a:t>
            </a:r>
            <a:r>
              <a:rPr lang="pt-BR" sz="2000" u="sng" dirty="0">
                <a:solidFill>
                  <a:srgbClr val="FF0000"/>
                </a:solidFill>
              </a:rPr>
              <a:t>em mãos preenchido a guia de solicitação de internação.</a:t>
            </a:r>
          </a:p>
          <a:p>
            <a:pPr marL="118872" indent="0">
              <a:spcBef>
                <a:spcPts val="0"/>
              </a:spcBef>
              <a:buNone/>
              <a:defRPr/>
            </a:pPr>
            <a:endParaRPr lang="pt-BR" sz="2000" dirty="0"/>
          </a:p>
          <a:p>
            <a:pPr marL="118872" indent="0">
              <a:spcBef>
                <a:spcPts val="0"/>
              </a:spcBef>
              <a:buNone/>
              <a:defRPr/>
            </a:pPr>
            <a:r>
              <a:rPr lang="pt-BR" sz="2000" dirty="0" smtClean="0"/>
              <a:t>Deverá constar:</a:t>
            </a:r>
          </a:p>
          <a:p>
            <a:pPr marL="118872" indent="0">
              <a:spcBef>
                <a:spcPts val="0"/>
              </a:spcBef>
              <a:buNone/>
              <a:defRPr/>
            </a:pPr>
            <a:endParaRPr lang="pt-BR" sz="2000" dirty="0" smtClean="0"/>
          </a:p>
          <a:p>
            <a:pPr marL="461772" indent="-342900">
              <a:spcBef>
                <a:spcPts val="0"/>
              </a:spcBef>
              <a:defRPr/>
            </a:pPr>
            <a:r>
              <a:rPr lang="pt-BR" sz="2000" dirty="0"/>
              <a:t>Copia da documentação;</a:t>
            </a:r>
          </a:p>
          <a:p>
            <a:pPr marL="461772" indent="-342900">
              <a:spcBef>
                <a:spcPts val="0"/>
              </a:spcBef>
              <a:defRPr/>
            </a:pPr>
            <a:endParaRPr lang="pt-BR" sz="2000" dirty="0"/>
          </a:p>
          <a:p>
            <a:pPr marL="461772" indent="-342900">
              <a:spcBef>
                <a:spcPts val="0"/>
              </a:spcBef>
              <a:defRPr/>
            </a:pPr>
            <a:r>
              <a:rPr lang="pt-BR" sz="2000" dirty="0"/>
              <a:t>Nº da carteirinha;</a:t>
            </a:r>
          </a:p>
          <a:p>
            <a:pPr marL="461772" indent="-342900">
              <a:spcBef>
                <a:spcPts val="0"/>
              </a:spcBef>
              <a:defRPr/>
            </a:pPr>
            <a:endParaRPr lang="pt-BR" sz="2000" dirty="0"/>
          </a:p>
          <a:p>
            <a:pPr marL="461772" indent="-342900">
              <a:spcBef>
                <a:spcPts val="0"/>
              </a:spcBef>
              <a:defRPr/>
            </a:pPr>
            <a:r>
              <a:rPr lang="pt-BR" sz="2000" dirty="0"/>
              <a:t>Nome completo do paciente;</a:t>
            </a:r>
          </a:p>
          <a:p>
            <a:pPr marL="461772" indent="-342900">
              <a:spcBef>
                <a:spcPts val="0"/>
              </a:spcBef>
              <a:defRPr/>
            </a:pPr>
            <a:endParaRPr lang="pt-BR" sz="2000" dirty="0"/>
          </a:p>
          <a:p>
            <a:pPr marL="461772" indent="-342900">
              <a:spcBef>
                <a:spcPts val="0"/>
              </a:spcBef>
              <a:defRPr/>
            </a:pPr>
            <a:r>
              <a:rPr lang="pt-BR" sz="2000" dirty="0"/>
              <a:t>Nome completo do médico e CRM;</a:t>
            </a:r>
          </a:p>
          <a:p>
            <a:pPr marL="461772" indent="-342900">
              <a:spcBef>
                <a:spcPts val="0"/>
              </a:spcBef>
              <a:defRPr/>
            </a:pPr>
            <a:endParaRPr lang="pt-BR" sz="2000" dirty="0"/>
          </a:p>
          <a:p>
            <a:pPr marL="461772" indent="-342900">
              <a:spcBef>
                <a:spcPts val="0"/>
              </a:spcBef>
              <a:defRPr/>
            </a:pPr>
            <a:r>
              <a:rPr lang="pt-BR" sz="2000" dirty="0"/>
              <a:t>História clínica (quando procedimento cirúrgico o código do procedimento, usa-se a tabela CBHPM de acordo com a descrição medica</a:t>
            </a:r>
            <a:r>
              <a:rPr lang="pt-BR" sz="2000" dirty="0" smtClean="0"/>
              <a:t>);</a:t>
            </a:r>
          </a:p>
          <a:p>
            <a:pPr marL="461772" indent="-342900">
              <a:spcBef>
                <a:spcPts val="0"/>
              </a:spcBef>
              <a:defRPr/>
            </a:pPr>
            <a:endParaRPr lang="pt-BR" sz="2000" dirty="0"/>
          </a:p>
          <a:p>
            <a:pPr marL="461772" indent="-342900">
              <a:spcBef>
                <a:spcPts val="0"/>
              </a:spcBef>
              <a:defRPr/>
            </a:pPr>
            <a:r>
              <a:rPr lang="pt-BR" sz="2000" dirty="0" smtClean="0"/>
              <a:t>Exames necessários para comprovar a hipótese diagnóstica ou no caso da falta dos mesmos, relatório médico explicando o caso.</a:t>
            </a:r>
            <a:endParaRPr lang="pt-BR" sz="2000" dirty="0"/>
          </a:p>
          <a:p>
            <a:pPr marL="118872" indent="0">
              <a:spcBef>
                <a:spcPts val="0"/>
              </a:spcBef>
              <a:buNone/>
              <a:defRPr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404405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62149" y="1412776"/>
            <a:ext cx="10384971" cy="5256584"/>
          </a:xfrm>
        </p:spPr>
        <p:txBody>
          <a:bodyPr rtlCol="0">
            <a:normAutofit lnSpcReduction="10000"/>
          </a:bodyPr>
          <a:lstStyle/>
          <a:p>
            <a:pPr marL="0" indent="0" algn="just">
              <a:buNone/>
            </a:pPr>
            <a:endParaRPr lang="pt-BR" sz="2000" dirty="0"/>
          </a:p>
          <a:p>
            <a:pPr marL="461772" indent="-342900">
              <a:spcBef>
                <a:spcPts val="0"/>
              </a:spcBef>
              <a:defRPr/>
            </a:pPr>
            <a:r>
              <a:rPr lang="pt-BR" sz="2400" dirty="0"/>
              <a:t>Vasectomia e Laqueadura deverá conter </a:t>
            </a:r>
            <a:r>
              <a:rPr lang="pt-BR" sz="2400" dirty="0" smtClean="0"/>
              <a:t>termo de </a:t>
            </a:r>
            <a:r>
              <a:rPr lang="pt-BR" sz="2400" dirty="0"/>
              <a:t>ciência e responsabilidade </a:t>
            </a:r>
            <a:r>
              <a:rPr lang="pt-BR" sz="2400" dirty="0" smtClean="0"/>
              <a:t>devidamente preenchido </a:t>
            </a:r>
            <a:r>
              <a:rPr lang="pt-BR" sz="2400" dirty="0"/>
              <a:t>anexo a autorização e xerox de </a:t>
            </a:r>
            <a:r>
              <a:rPr lang="pt-BR" sz="2400" dirty="0" smtClean="0"/>
              <a:t>documentos; </a:t>
            </a:r>
          </a:p>
          <a:p>
            <a:pPr marL="118872" indent="0">
              <a:spcBef>
                <a:spcPts val="0"/>
              </a:spcBef>
              <a:buNone/>
              <a:defRPr/>
            </a:pPr>
            <a:endParaRPr lang="pt-BR" sz="2400" dirty="0"/>
          </a:p>
          <a:p>
            <a:pPr marL="461772" indent="-342900">
              <a:spcBef>
                <a:spcPts val="0"/>
              </a:spcBef>
              <a:defRPr/>
            </a:pPr>
            <a:r>
              <a:rPr lang="pt-BR" sz="2400" dirty="0"/>
              <a:t>Todas as urgências e emergências devem conter termo de não autorização;</a:t>
            </a:r>
          </a:p>
          <a:p>
            <a:pPr marL="461772" indent="-342900">
              <a:spcBef>
                <a:spcPts val="0"/>
              </a:spcBef>
              <a:defRPr/>
            </a:pPr>
            <a:endParaRPr lang="pt-BR" sz="2400" dirty="0"/>
          </a:p>
          <a:p>
            <a:pPr marL="461772" indent="-342900">
              <a:spcBef>
                <a:spcPts val="0"/>
              </a:spcBef>
              <a:defRPr/>
            </a:pPr>
            <a:r>
              <a:rPr lang="pt-BR" sz="2400" dirty="0"/>
              <a:t>Em caso de carteirinhas vencidas internar em caráter particular </a:t>
            </a:r>
            <a:r>
              <a:rPr lang="pt-BR" sz="2400" dirty="0" smtClean="0"/>
              <a:t>até </a:t>
            </a:r>
            <a:r>
              <a:rPr lang="pt-BR" sz="2400" dirty="0"/>
              <a:t>autorização da </a:t>
            </a:r>
            <a:r>
              <a:rPr lang="pt-BR" sz="2400" dirty="0" smtClean="0"/>
              <a:t>operadora;</a:t>
            </a:r>
            <a:endParaRPr lang="pt-BR" sz="2400" dirty="0"/>
          </a:p>
          <a:p>
            <a:pPr marL="461772" indent="-342900">
              <a:spcBef>
                <a:spcPts val="0"/>
              </a:spcBef>
              <a:defRPr/>
            </a:pPr>
            <a:endParaRPr lang="pt-BR" sz="2400" dirty="0"/>
          </a:p>
          <a:p>
            <a:pPr marL="461772" indent="-342900">
              <a:spcBef>
                <a:spcPts val="0"/>
              </a:spcBef>
              <a:defRPr/>
            </a:pPr>
            <a:r>
              <a:rPr lang="pt-BR" sz="2400" dirty="0"/>
              <a:t>Procedimentos eletivos deverão ser autorizados previamente, sejam eles internos ou externos;</a:t>
            </a:r>
          </a:p>
          <a:p>
            <a:pPr marL="461772" indent="-342900">
              <a:spcBef>
                <a:spcPts val="0"/>
              </a:spcBef>
              <a:defRPr/>
            </a:pPr>
            <a:endParaRPr lang="pt-BR" sz="2400" dirty="0"/>
          </a:p>
          <a:p>
            <a:pPr marL="461772" indent="-342900">
              <a:spcBef>
                <a:spcPts val="0"/>
              </a:spcBef>
              <a:defRPr/>
            </a:pPr>
            <a:r>
              <a:rPr lang="pt-BR" sz="2400" dirty="0"/>
              <a:t>RN da Unimed coberto pelo responsável somente com a descrição na carteirinha de “ambulatorial + hospitalar com obstetrícia</a:t>
            </a:r>
            <a:r>
              <a:rPr lang="pt-BR" sz="2400" dirty="0" smtClean="0"/>
              <a:t>”;</a:t>
            </a:r>
            <a:endParaRPr lang="pt-BR" sz="2400" dirty="0"/>
          </a:p>
          <a:p>
            <a:pPr marL="461772" indent="-342900">
              <a:spcBef>
                <a:spcPts val="0"/>
              </a:spcBef>
              <a:defRPr/>
            </a:pPr>
            <a:endParaRPr lang="pt-BR" sz="2400" dirty="0"/>
          </a:p>
          <a:p>
            <a:pPr marL="461772" indent="-342900">
              <a:spcBef>
                <a:spcPts val="0"/>
              </a:spcBef>
              <a:defRPr/>
            </a:pPr>
            <a:r>
              <a:rPr lang="pt-BR" sz="2400" dirty="0"/>
              <a:t>Benificiários com </a:t>
            </a:r>
            <a:r>
              <a:rPr lang="pt-BR" sz="2400" dirty="0" smtClean="0"/>
              <a:t>carência, conferir carteirinha e contatar o convênio. As </a:t>
            </a:r>
            <a:r>
              <a:rPr lang="pt-BR" sz="2400" dirty="0" smtClean="0"/>
              <a:t>primeiras 12 </a:t>
            </a:r>
            <a:r>
              <a:rPr lang="pt-BR" sz="2400" dirty="0" smtClean="0"/>
              <a:t>horas são obrigatoriamente cobertas pelo convênio;</a:t>
            </a:r>
            <a:endParaRPr lang="pt-BR" sz="2400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endParaRPr lang="pt-BR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62149" y="133922"/>
            <a:ext cx="10384971" cy="1252728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>
              <a:defRPr/>
            </a:pPr>
            <a:r>
              <a:rPr lang="pt-BR" dirty="0" smtClean="0">
                <a:solidFill>
                  <a:schemeClr val="bg1"/>
                </a:solidFill>
              </a:rPr>
              <a:t/>
            </a:r>
            <a:br>
              <a:rPr lang="pt-BR" dirty="0" smtClean="0">
                <a:solidFill>
                  <a:schemeClr val="bg1"/>
                </a:solidFill>
              </a:rPr>
            </a:br>
            <a:r>
              <a:rPr lang="pt-BR" dirty="0" smtClean="0">
                <a:solidFill>
                  <a:schemeClr val="bg1"/>
                </a:solidFill>
              </a:rPr>
              <a:t>Unimed</a:t>
            </a:r>
            <a:br>
              <a:rPr lang="pt-BR" dirty="0" smtClean="0">
                <a:solidFill>
                  <a:schemeClr val="bg1"/>
                </a:solidFill>
              </a:rPr>
            </a:b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41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4" name="Espaço Reservado para Conteúdo 3" descr="carteira samuel (1).jpg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953588" y="2939143"/>
            <a:ext cx="4767943" cy="3154877"/>
          </a:xfrm>
        </p:spPr>
      </p:pic>
      <p:pic>
        <p:nvPicPr>
          <p:cNvPr id="30726" name="Espaço Reservado para Conteúdo 3" descr="carteira samuel verso.jpg"/>
          <p:cNvPicPr>
            <a:picLocks noGrp="1" noChangeAspect="1"/>
          </p:cNvPicPr>
          <p:nvPr>
            <p:ph sz="quarter" idx="4"/>
          </p:nvPr>
        </p:nvPicPr>
        <p:blipFill>
          <a:blip r:embed="rId3"/>
          <a:srcRect/>
          <a:stretch>
            <a:fillRect/>
          </a:stretch>
        </p:blipFill>
        <p:spPr>
          <a:xfrm rot="21292758">
            <a:off x="6022423" y="2671990"/>
            <a:ext cx="5518113" cy="3628638"/>
          </a:xfrm>
        </p:spPr>
      </p:pic>
      <p:sp>
        <p:nvSpPr>
          <p:cNvPr id="8" name="Título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>
              <a:defRPr/>
            </a:pPr>
            <a:r>
              <a:rPr lang="pt-BR" dirty="0" smtClean="0">
                <a:solidFill>
                  <a:schemeClr val="bg1"/>
                </a:solidFill>
              </a:rPr>
              <a:t/>
            </a:r>
            <a:br>
              <a:rPr lang="pt-BR" dirty="0" smtClean="0">
                <a:solidFill>
                  <a:schemeClr val="bg1"/>
                </a:solidFill>
              </a:rPr>
            </a:br>
            <a:r>
              <a:rPr lang="pt-BR" dirty="0" smtClean="0">
                <a:solidFill>
                  <a:schemeClr val="bg1"/>
                </a:solidFill>
              </a:rPr>
              <a:t>Unimed</a:t>
            </a:r>
            <a:br>
              <a:rPr lang="pt-BR" dirty="0" smtClean="0">
                <a:solidFill>
                  <a:schemeClr val="bg1"/>
                </a:solidFill>
              </a:rPr>
            </a:b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41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981200" y="155575"/>
            <a:ext cx="8229600" cy="771888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>
              <a:defRPr/>
            </a:pPr>
            <a:r>
              <a:rPr lang="pt-BR" dirty="0" smtClean="0">
                <a:solidFill>
                  <a:schemeClr val="bg1"/>
                </a:solidFill>
              </a:rPr>
              <a:t/>
            </a:r>
            <a:br>
              <a:rPr lang="pt-BR" dirty="0" smtClean="0">
                <a:solidFill>
                  <a:schemeClr val="bg1"/>
                </a:solidFill>
              </a:rPr>
            </a:br>
            <a:r>
              <a:rPr lang="pt-BR" dirty="0" smtClean="0">
                <a:solidFill>
                  <a:schemeClr val="bg1"/>
                </a:solidFill>
              </a:rPr>
              <a:t>Unimed</a:t>
            </a:r>
            <a:r>
              <a:rPr lang="pt-BR" dirty="0" smtClean="0">
                <a:solidFill>
                  <a:schemeClr val="accent1">
                    <a:satMod val="150000"/>
                  </a:schemeClr>
                </a:solidFill>
              </a:rPr>
              <a:t/>
            </a:r>
            <a:br>
              <a:rPr lang="pt-BR" dirty="0" smtClean="0">
                <a:solidFill>
                  <a:schemeClr val="accent1">
                    <a:satMod val="150000"/>
                  </a:schemeClr>
                </a:solidFill>
              </a:rPr>
            </a:br>
            <a:endParaRPr lang="pt-BR" dirty="0">
              <a:solidFill>
                <a:schemeClr val="accent1">
                  <a:satMod val="150000"/>
                </a:schemeClr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1" y="927463"/>
            <a:ext cx="8229599" cy="593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03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774826"/>
            <a:ext cx="10515600" cy="4625975"/>
          </a:xfrm>
        </p:spPr>
        <p:txBody>
          <a:bodyPr>
            <a:normAutofit fontScale="92500" lnSpcReduction="10000"/>
          </a:bodyPr>
          <a:lstStyle/>
          <a:p>
            <a:pPr marL="461772" indent="-342900">
              <a:spcBef>
                <a:spcPts val="0"/>
              </a:spcBef>
              <a:defRPr/>
            </a:pPr>
            <a:endParaRPr lang="pt-BR" sz="2400" dirty="0" smtClean="0"/>
          </a:p>
          <a:p>
            <a:pPr marL="461772" indent="-342900">
              <a:spcBef>
                <a:spcPts val="0"/>
              </a:spcBef>
              <a:defRPr/>
            </a:pPr>
            <a:r>
              <a:rPr lang="pt-BR" sz="2400" dirty="0" smtClean="0"/>
              <a:t>Em </a:t>
            </a:r>
            <a:r>
              <a:rPr lang="pt-BR" sz="2400" dirty="0"/>
              <a:t>caso de </a:t>
            </a:r>
            <a:r>
              <a:rPr lang="pt-BR" sz="2400" dirty="0" smtClean="0"/>
              <a:t>emergência se estiver sem guia, o </a:t>
            </a:r>
            <a:r>
              <a:rPr lang="pt-BR" sz="2400" dirty="0"/>
              <a:t>paciente deverá passar pelo pronto atendimento e trazer guia de solicitação de internação preenchida e encaminhamento do PA</a:t>
            </a:r>
            <a:r>
              <a:rPr lang="pt-BR" sz="2400" dirty="0" smtClean="0"/>
              <a:t>;</a:t>
            </a:r>
          </a:p>
          <a:p>
            <a:pPr marL="118872" indent="0">
              <a:spcBef>
                <a:spcPts val="0"/>
              </a:spcBef>
              <a:buNone/>
              <a:defRPr/>
            </a:pPr>
            <a:endParaRPr lang="pt-BR" sz="2400" dirty="0" smtClean="0"/>
          </a:p>
          <a:p>
            <a:pPr marL="461772" indent="-342900">
              <a:spcBef>
                <a:spcPts val="0"/>
              </a:spcBef>
              <a:defRPr/>
            </a:pPr>
            <a:r>
              <a:rPr lang="pt-BR" sz="2400" b="1" dirty="0" smtClean="0"/>
              <a:t>Paciente vindo direto do consultório deverá portar guia devidamente preenchida;</a:t>
            </a:r>
            <a:endParaRPr lang="pt-BR" sz="2400" b="1" dirty="0"/>
          </a:p>
          <a:p>
            <a:pPr marL="118872" indent="0">
              <a:spcBef>
                <a:spcPts val="0"/>
              </a:spcBef>
              <a:buNone/>
              <a:defRPr/>
            </a:pPr>
            <a:endParaRPr lang="pt-BR" sz="2400" dirty="0"/>
          </a:p>
          <a:p>
            <a:pPr marL="461772" indent="-342900">
              <a:spcBef>
                <a:spcPts val="0"/>
              </a:spcBef>
              <a:defRPr/>
            </a:pPr>
            <a:r>
              <a:rPr lang="pt-BR" sz="2400" dirty="0" smtClean="0"/>
              <a:t>Todas </a:t>
            </a:r>
            <a:r>
              <a:rPr lang="pt-BR" sz="2400" dirty="0"/>
              <a:t>as guias (URGÊNCIA, ELETIVAS E SADT)  deverão ser assinadas pelo paciente ou responsável;</a:t>
            </a:r>
          </a:p>
          <a:p>
            <a:pPr marL="461772" indent="-342900">
              <a:spcBef>
                <a:spcPts val="0"/>
              </a:spcBef>
              <a:defRPr/>
            </a:pPr>
            <a:endParaRPr lang="pt-BR" sz="2400" dirty="0"/>
          </a:p>
          <a:p>
            <a:pPr marL="461772" indent="-342900">
              <a:spcBef>
                <a:spcPts val="0"/>
              </a:spcBef>
              <a:defRPr/>
            </a:pPr>
            <a:r>
              <a:rPr lang="pt-BR" sz="2400" dirty="0"/>
              <a:t>Guias de parto devem conter termo de parto, xerox dos documentos e termo de </a:t>
            </a:r>
            <a:r>
              <a:rPr lang="pt-BR" sz="2400" dirty="0" smtClean="0"/>
              <a:t>responsabilidade;</a:t>
            </a:r>
          </a:p>
          <a:p>
            <a:pPr marL="118872" indent="0">
              <a:spcBef>
                <a:spcPts val="0"/>
              </a:spcBef>
              <a:buNone/>
              <a:defRPr/>
            </a:pPr>
            <a:endParaRPr lang="pt-BR" sz="2400" dirty="0" smtClean="0"/>
          </a:p>
          <a:p>
            <a:pPr marL="461772" indent="-342900">
              <a:spcBef>
                <a:spcPts val="0"/>
              </a:spcBef>
              <a:defRPr/>
            </a:pPr>
            <a:r>
              <a:rPr lang="pt-BR" sz="2400" dirty="0" smtClean="0"/>
              <a:t>Em </a:t>
            </a:r>
            <a:r>
              <a:rPr lang="pt-BR" sz="2400" dirty="0"/>
              <a:t>caso de contato feito com o escritório da Unimed ou Central da mesma, anotar horário e nome do atendente</a:t>
            </a:r>
            <a:r>
              <a:rPr lang="pt-BR" sz="2400" dirty="0" smtClean="0"/>
              <a:t>; caso o contato seja feito via </a:t>
            </a:r>
            <a:r>
              <a:rPr lang="pt-BR" sz="2400" dirty="0" err="1" smtClean="0"/>
              <a:t>whatsapp</a:t>
            </a:r>
            <a:r>
              <a:rPr lang="pt-BR" sz="2400" dirty="0" smtClean="0"/>
              <a:t>, tirar </a:t>
            </a:r>
            <a:r>
              <a:rPr lang="pt-BR" sz="2400" dirty="0" err="1" smtClean="0"/>
              <a:t>print</a:t>
            </a:r>
            <a:r>
              <a:rPr lang="pt-BR" sz="2400" dirty="0" smtClean="0"/>
              <a:t> da conversa e salvar.</a:t>
            </a:r>
            <a:endParaRPr lang="pt-BR" sz="2400" dirty="0"/>
          </a:p>
          <a:p>
            <a:pPr marL="118872" indent="0">
              <a:spcBef>
                <a:spcPts val="0"/>
              </a:spcBef>
              <a:buNone/>
              <a:defRPr/>
            </a:pPr>
            <a:endParaRPr lang="pt-BR" sz="2000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endParaRPr lang="pt-BR" sz="2000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>
              <a:defRPr/>
            </a:pPr>
            <a:r>
              <a:rPr lang="pt-BR" dirty="0" smtClean="0">
                <a:solidFill>
                  <a:schemeClr val="bg1"/>
                </a:solidFill>
              </a:rPr>
              <a:t/>
            </a:r>
            <a:br>
              <a:rPr lang="pt-BR" dirty="0" smtClean="0">
                <a:solidFill>
                  <a:schemeClr val="bg1"/>
                </a:solidFill>
              </a:rPr>
            </a:br>
            <a:r>
              <a:rPr lang="pt-BR" dirty="0" smtClean="0">
                <a:solidFill>
                  <a:schemeClr val="bg1"/>
                </a:solidFill>
              </a:rPr>
              <a:t>Unimed</a:t>
            </a:r>
            <a:r>
              <a:rPr lang="pt-BR" dirty="0" smtClean="0">
                <a:solidFill>
                  <a:schemeClr val="accent1">
                    <a:satMod val="150000"/>
                  </a:schemeClr>
                </a:solidFill>
              </a:rPr>
              <a:t/>
            </a:r>
            <a:br>
              <a:rPr lang="pt-BR" dirty="0" smtClean="0">
                <a:solidFill>
                  <a:schemeClr val="accent1">
                    <a:satMod val="150000"/>
                  </a:schemeClr>
                </a:solidFill>
              </a:rPr>
            </a:br>
            <a:endParaRPr lang="pt-BR" dirty="0">
              <a:solidFill>
                <a:schemeClr val="accent1">
                  <a:satMod val="1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97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354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>
              <a:defRPr/>
            </a:pPr>
            <a:r>
              <a:rPr lang="pt-BR" dirty="0" smtClean="0">
                <a:solidFill>
                  <a:schemeClr val="accent1">
                    <a:satMod val="150000"/>
                  </a:schemeClr>
                </a:solidFill>
              </a:rPr>
              <a:t> </a:t>
            </a:r>
            <a:r>
              <a:rPr lang="pt-BR" dirty="0" smtClean="0">
                <a:solidFill>
                  <a:schemeClr val="bg1"/>
                </a:solidFill>
              </a:rPr>
              <a:t>POLÍCIA MILITAR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645920"/>
            <a:ext cx="10515600" cy="5069228"/>
          </a:xfrm>
        </p:spPr>
        <p:txBody>
          <a:bodyPr rtlCol="0">
            <a:noAutofit/>
          </a:bodyPr>
          <a:lstStyle/>
          <a:p>
            <a:pPr marL="461772" indent="-342900">
              <a:spcBef>
                <a:spcPts val="0"/>
              </a:spcBef>
              <a:defRPr/>
            </a:pPr>
            <a:r>
              <a:rPr lang="pt-BR" sz="2400" dirty="0" smtClean="0"/>
              <a:t>Verificar carteirinha;</a:t>
            </a:r>
          </a:p>
          <a:p>
            <a:pPr marL="118872" indent="0">
              <a:spcBef>
                <a:spcPts val="0"/>
              </a:spcBef>
              <a:buNone/>
              <a:defRPr/>
            </a:pPr>
            <a:endParaRPr lang="pt-BR" sz="2400" dirty="0" smtClean="0"/>
          </a:p>
          <a:p>
            <a:pPr marL="461772" indent="-342900">
              <a:spcBef>
                <a:spcPts val="0"/>
              </a:spcBef>
              <a:defRPr/>
            </a:pPr>
            <a:r>
              <a:rPr lang="pt-BR" sz="2400" dirty="0" smtClean="0"/>
              <a:t>Verificar se </a:t>
            </a:r>
            <a:r>
              <a:rPr lang="pt-BR" sz="2400" dirty="0"/>
              <a:t>p</a:t>
            </a:r>
            <a:r>
              <a:rPr lang="pt-BR" sz="2400" dirty="0" smtClean="0"/>
              <a:t>edido médico está legível, se possui história clínica, carimbo</a:t>
            </a:r>
            <a:r>
              <a:rPr lang="pt-BR" sz="2400" dirty="0"/>
              <a:t>, assinatura </a:t>
            </a:r>
            <a:r>
              <a:rPr lang="pt-BR" sz="2400" dirty="0" smtClean="0"/>
              <a:t>e CID. Pedido deve </a:t>
            </a:r>
            <a:r>
              <a:rPr lang="pt-BR" sz="2400" dirty="0"/>
              <a:t>ser anexado junto </a:t>
            </a:r>
            <a:r>
              <a:rPr lang="pt-BR" sz="2400" dirty="0" smtClean="0"/>
              <a:t>á cópia dos </a:t>
            </a:r>
            <a:r>
              <a:rPr lang="pt-BR" sz="2400" dirty="0"/>
              <a:t>documentos e demais termos</a:t>
            </a:r>
            <a:r>
              <a:rPr lang="pt-BR" sz="2400" dirty="0" smtClean="0"/>
              <a:t>;</a:t>
            </a:r>
          </a:p>
          <a:p>
            <a:pPr marL="118872" indent="0">
              <a:spcBef>
                <a:spcPts val="0"/>
              </a:spcBef>
              <a:buNone/>
              <a:defRPr/>
            </a:pPr>
            <a:endParaRPr lang="pt-BR" sz="2400" dirty="0" smtClean="0"/>
          </a:p>
          <a:p>
            <a:pPr marL="461772" indent="-342900">
              <a:spcBef>
                <a:spcPts val="0"/>
              </a:spcBef>
              <a:defRPr/>
            </a:pPr>
            <a:r>
              <a:rPr lang="pt-BR" sz="2400" dirty="0"/>
              <a:t>Internações realizadas nos horários de </a:t>
            </a:r>
            <a:r>
              <a:rPr lang="pt-BR" sz="2400" dirty="0" smtClean="0"/>
              <a:t>16:30h </a:t>
            </a:r>
            <a:r>
              <a:rPr lang="pt-BR" sz="2400" dirty="0"/>
              <a:t>às 7h do outro dia, finais de </a:t>
            </a:r>
            <a:r>
              <a:rPr lang="pt-BR" sz="2400" dirty="0" smtClean="0"/>
              <a:t>semanas </a:t>
            </a:r>
            <a:r>
              <a:rPr lang="pt-BR" sz="2400" dirty="0"/>
              <a:t>e feriados são de responsabilidade da secretaria;</a:t>
            </a:r>
          </a:p>
          <a:p>
            <a:pPr marL="118872" indent="0" algn="just">
              <a:spcBef>
                <a:spcPts val="0"/>
              </a:spcBef>
              <a:buNone/>
              <a:defRPr/>
            </a:pPr>
            <a:endParaRPr lang="pt-BR" sz="2400" dirty="0" smtClean="0"/>
          </a:p>
          <a:p>
            <a:pPr marL="461772" indent="-342900" algn="just">
              <a:spcBef>
                <a:spcPts val="0"/>
              </a:spcBef>
              <a:defRPr/>
            </a:pPr>
            <a:r>
              <a:rPr lang="pt-BR" sz="2400" dirty="0" smtClean="0"/>
              <a:t>Acomodação padrão é ENFERMARIA, exceto quando o paciente solicitar acomodação especial (apartamento). Nesse caso, temos que preencher o formulário com todas as informações solicitadas no mesmo, enviar e-mail para </a:t>
            </a:r>
            <a:r>
              <a:rPr lang="pt-BR" sz="2400" u="sng" dirty="0" smtClean="0">
                <a:hlinkClick r:id="rId2"/>
              </a:rPr>
              <a:t>autorizacao.apto@ipsm.gov.br</a:t>
            </a:r>
            <a:r>
              <a:rPr lang="pt-BR" sz="2400" dirty="0"/>
              <a:t> </a:t>
            </a:r>
            <a:r>
              <a:rPr lang="pt-BR" sz="2400" dirty="0" smtClean="0"/>
              <a:t>e </a:t>
            </a:r>
            <a:r>
              <a:rPr lang="pt-BR" sz="2400" u="sng" dirty="0" smtClean="0">
                <a:hlinkClick r:id="rId3"/>
              </a:rPr>
              <a:t>supervisaocentral@ipsm.gov.br</a:t>
            </a:r>
            <a:r>
              <a:rPr lang="pt-BR" sz="2400" u="sng" dirty="0"/>
              <a:t> </a:t>
            </a:r>
            <a:r>
              <a:rPr lang="pt-BR" sz="2400" dirty="0" smtClean="0"/>
              <a:t>juntamente </a:t>
            </a:r>
            <a:r>
              <a:rPr lang="pt-BR" sz="2400" dirty="0" smtClean="0"/>
              <a:t>com o formulário e os documentos do paciente e de quem assinou o termo</a:t>
            </a:r>
            <a:r>
              <a:rPr lang="pt-BR" sz="2400" dirty="0" smtClean="0"/>
              <a:t>.</a:t>
            </a:r>
            <a:endParaRPr lang="pt-BR" sz="2400" dirty="0" smtClean="0"/>
          </a:p>
          <a:p>
            <a:pPr marL="118872" indent="0" algn="just">
              <a:spcBef>
                <a:spcPts val="0"/>
              </a:spcBef>
              <a:buNone/>
              <a:defRPr/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142047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6072" indent="-457200" algn="just">
              <a:spcBef>
                <a:spcPts val="0"/>
              </a:spcBef>
              <a:defRPr/>
            </a:pPr>
            <a:r>
              <a:rPr lang="pt-BR" dirty="0" smtClean="0"/>
              <a:t>Quando </a:t>
            </a:r>
            <a:r>
              <a:rPr lang="pt-BR" dirty="0"/>
              <a:t>RN, </a:t>
            </a:r>
            <a:r>
              <a:rPr lang="pt-BR" dirty="0" smtClean="0"/>
              <a:t>deverá ser preenchido o termo de Compromisso do RN. Uma vez preenchido, deverá ser solicitado via telefone senha blackout referente à internação do RN. No termo de Compromisso do RN, os pais se comprometem a providenciar a carteirinha do recém-nascido o mais rápido possível, trazendo o mesmo para o hospital. Uma vez de posse de um número de carteirinha, a Central de Guias se responsabilizará por fazer a conversão da senha Blackout em uma senha válida no sistema SIGAS.</a:t>
            </a:r>
            <a:endParaRPr lang="pt-BR" dirty="0"/>
          </a:p>
          <a:p>
            <a:endParaRPr lang="pt-BR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>
              <a:defRPr/>
            </a:pPr>
            <a:r>
              <a:rPr lang="pt-BR" dirty="0" smtClean="0">
                <a:solidFill>
                  <a:schemeClr val="accent1">
                    <a:satMod val="150000"/>
                  </a:schemeClr>
                </a:solidFill>
              </a:rPr>
              <a:t> </a:t>
            </a:r>
            <a:r>
              <a:rPr lang="pt-BR" dirty="0" smtClean="0">
                <a:solidFill>
                  <a:schemeClr val="bg1"/>
                </a:solidFill>
              </a:rPr>
              <a:t>POLÍCIA MILITAR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909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9659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POLÍCIA MILITAR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84784"/>
            <a:ext cx="10515600" cy="511256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2400" dirty="0" smtClean="0"/>
              <a:t>Guias </a:t>
            </a:r>
            <a:r>
              <a:rPr lang="pt-BR" sz="2400" dirty="0"/>
              <a:t>de parto devem conter termo de parto, xerox dos documentos e termo de responsabilidade</a:t>
            </a:r>
            <a:r>
              <a:rPr lang="pt-BR" sz="2400" dirty="0" smtClean="0"/>
              <a:t>;</a:t>
            </a:r>
            <a:endParaRPr lang="pt-BR" sz="2400" dirty="0"/>
          </a:p>
          <a:p>
            <a:pPr algn="just"/>
            <a:r>
              <a:rPr lang="pt-BR" sz="2400" dirty="0"/>
              <a:t>Vasectomia e Laqueadura deverá conter termo </a:t>
            </a:r>
            <a:r>
              <a:rPr lang="pt-BR" sz="2400" dirty="0" smtClean="0"/>
              <a:t>de ciência </a:t>
            </a:r>
            <a:r>
              <a:rPr lang="pt-BR" sz="2400" dirty="0"/>
              <a:t>e responsabilidade devidamente preenchido anexo a autorização e xerox de documentos</a:t>
            </a:r>
            <a:r>
              <a:rPr lang="pt-BR" sz="2400" dirty="0" smtClean="0"/>
              <a:t>;</a:t>
            </a:r>
            <a:endParaRPr lang="pt-BR" sz="2400" dirty="0"/>
          </a:p>
          <a:p>
            <a:pPr algn="just"/>
            <a:r>
              <a:rPr lang="pt-BR" sz="2400" dirty="0"/>
              <a:t>Procedimentos eletivos deverão ser autorizados previamente, sejam eles internos ou externos</a:t>
            </a:r>
            <a:r>
              <a:rPr lang="pt-BR" sz="2400" dirty="0" smtClean="0"/>
              <a:t>;</a:t>
            </a:r>
          </a:p>
          <a:p>
            <a:pPr algn="just"/>
            <a:r>
              <a:rPr lang="pt-BR" sz="2400" dirty="0" smtClean="0"/>
              <a:t>Em caso </a:t>
            </a:r>
            <a:r>
              <a:rPr lang="pt-BR" sz="2400" dirty="0"/>
              <a:t>de internações </a:t>
            </a:r>
            <a:r>
              <a:rPr lang="pt-BR" sz="2400" b="1" dirty="0"/>
              <a:t>CLÍNICAS</a:t>
            </a:r>
            <a:r>
              <a:rPr lang="pt-BR" sz="2400" dirty="0"/>
              <a:t> ou </a:t>
            </a:r>
            <a:r>
              <a:rPr lang="pt-BR" sz="2400" b="1" dirty="0"/>
              <a:t>PARTOS</a:t>
            </a:r>
            <a:r>
              <a:rPr lang="pt-BR" sz="2400" dirty="0"/>
              <a:t>, fazer a solicitação no SIGAS e posteriormente ligar no 0800 940 2006 opção 1, depois opção 2, informar a senha gerada na solicitação e pedir para que seja </a:t>
            </a:r>
            <a:r>
              <a:rPr lang="pt-BR" sz="2400" dirty="0" smtClean="0"/>
              <a:t>autorizado</a:t>
            </a:r>
            <a:r>
              <a:rPr lang="pt-BR" sz="2400" dirty="0"/>
              <a:t>;</a:t>
            </a:r>
            <a:endParaRPr lang="pt-BR" sz="2400" dirty="0" smtClean="0"/>
          </a:p>
          <a:p>
            <a:pPr algn="just"/>
            <a:r>
              <a:rPr lang="pt-BR" sz="2400" dirty="0" smtClean="0"/>
              <a:t>Internações clínicas em que o paciente é enviado diretamente para a </a:t>
            </a:r>
            <a:r>
              <a:rPr lang="pt-BR" sz="2400" b="1" dirty="0" smtClean="0"/>
              <a:t>UTI, </a:t>
            </a:r>
            <a:r>
              <a:rPr lang="pt-BR" sz="2400" dirty="0" smtClean="0"/>
              <a:t>o código a ser solicitado é o </a:t>
            </a:r>
            <a:r>
              <a:rPr lang="pt-BR" sz="2400" b="1" dirty="0" smtClean="0"/>
              <a:t>01040022</a:t>
            </a:r>
          </a:p>
          <a:p>
            <a:pPr algn="just"/>
            <a:r>
              <a:rPr lang="pt-BR" sz="2400" dirty="0" smtClean="0"/>
              <a:t>Quando estiver </a:t>
            </a:r>
            <a:r>
              <a:rPr lang="pt-BR" sz="2400" dirty="0" smtClean="0"/>
              <a:t>alguma </a:t>
            </a:r>
            <a:r>
              <a:rPr lang="pt-BR" sz="2400" dirty="0" smtClean="0"/>
              <a:t>solicitação/autorização retroativa, </a:t>
            </a:r>
            <a:r>
              <a:rPr lang="pt-BR" sz="2400" dirty="0" smtClean="0"/>
              <a:t>enviar e-mail para </a:t>
            </a:r>
            <a:r>
              <a:rPr lang="pt-BR" sz="2400" dirty="0"/>
              <a:t>o endereço retroativasxml@IPSM.GOV.BR </a:t>
            </a:r>
            <a:r>
              <a:rPr lang="pt-BR" sz="2400" dirty="0" smtClean="0"/>
              <a:t>, solicitando que seja realizado a abertura retroativa na data e horário da internação;</a:t>
            </a:r>
            <a:endParaRPr lang="pt-BR" sz="2400" dirty="0"/>
          </a:p>
          <a:p>
            <a:pPr algn="just"/>
            <a:r>
              <a:rPr lang="pt-BR" sz="2400" dirty="0"/>
              <a:t>Caso não consiga obter a autorização inicial, será necessário enviar por e-mail para à Central, todos os dados e as informações do que foi feito até o momento</a:t>
            </a:r>
            <a:r>
              <a:rPr lang="pt-BR" sz="2400" dirty="0" smtClean="0"/>
              <a:t>;</a:t>
            </a:r>
          </a:p>
          <a:p>
            <a:pPr algn="just"/>
            <a:endParaRPr lang="pt-BR" sz="2400" b="1" dirty="0"/>
          </a:p>
          <a:p>
            <a:pPr algn="just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88051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1161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pt-BR" dirty="0" smtClean="0"/>
              <a:t>INTRODUÇÃO CONVÊNIOS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10789"/>
            <a:ext cx="10515600" cy="5251268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4400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Preenchimento das guias/documentos anexos junto as </a:t>
            </a:r>
            <a:r>
              <a:rPr lang="pt-BR" sz="4400" b="1" u="sng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guias</a:t>
            </a:r>
            <a:endParaRPr lang="pt-BR" sz="3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4400" dirty="0">
                <a:ea typeface="Calibri" panose="020F0502020204030204" pitchFamily="34" charset="0"/>
                <a:cs typeface="Times New Roman" panose="02020603050405020304" pitchFamily="18" charset="0"/>
              </a:rPr>
              <a:t>Todas as guias devem estar </a:t>
            </a:r>
            <a:r>
              <a:rPr lang="pt-BR" sz="4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devidamente preenchidas. </a:t>
            </a:r>
            <a:r>
              <a:rPr lang="pt-BR" sz="4400" dirty="0">
                <a:ea typeface="Calibri" panose="020F0502020204030204" pitchFamily="34" charset="0"/>
                <a:cs typeface="Times New Roman" panose="02020603050405020304" pitchFamily="18" charset="0"/>
              </a:rPr>
              <a:t>Dados do paciente, matrícula do convênio, dados do prestador, história clínica e procedimento preenchido pelo médico, assinatura do beneficiário ou responsável na guia.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4400" dirty="0">
                <a:ea typeface="Calibri" panose="020F0502020204030204" pitchFamily="34" charset="0"/>
                <a:cs typeface="Times New Roman" panose="02020603050405020304" pitchFamily="18" charset="0"/>
              </a:rPr>
              <a:t>Anexar termo de responsabilidade de </a:t>
            </a:r>
            <a:r>
              <a:rPr lang="pt-BR" sz="4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Não Autorização</a:t>
            </a:r>
            <a:r>
              <a:rPr lang="pt-BR" sz="4400" dirty="0">
                <a:ea typeface="Calibri" panose="020F0502020204030204" pitchFamily="34" charset="0"/>
                <a:cs typeface="Times New Roman" panose="02020603050405020304" pitchFamily="18" charset="0"/>
              </a:rPr>
              <a:t>; e nos casos de internações de gestantes para parto anexar o termo de parto dos convênios, com data correta da solicitação, assinatura e carimbo médico e assinatura da paciente e do responsável.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4400" dirty="0">
                <a:ea typeface="Calibri" panose="020F0502020204030204" pitchFamily="34" charset="0"/>
                <a:cs typeface="Times New Roman" panose="02020603050405020304" pitchFamily="18" charset="0"/>
              </a:rPr>
              <a:t>Em casos cirúrgicos, </a:t>
            </a:r>
            <a:r>
              <a:rPr lang="pt-BR" sz="4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anexar </a:t>
            </a:r>
            <a:r>
              <a:rPr lang="pt-BR" sz="4400" dirty="0">
                <a:ea typeface="Calibri" panose="020F0502020204030204" pitchFamily="34" charset="0"/>
                <a:cs typeface="Times New Roman" panose="02020603050405020304" pitchFamily="18" charset="0"/>
              </a:rPr>
              <a:t>junto a </a:t>
            </a:r>
            <a:r>
              <a:rPr lang="pt-BR" sz="4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guia, </a:t>
            </a:r>
            <a:r>
              <a:rPr lang="pt-BR" sz="4400" dirty="0">
                <a:ea typeface="Calibri" panose="020F0502020204030204" pitchFamily="34" charset="0"/>
                <a:cs typeface="Times New Roman" panose="02020603050405020304" pitchFamily="18" charset="0"/>
              </a:rPr>
              <a:t>o xerox do laudo ou do resultado de exame realizado pelo paciente, conforme solicitado em reunião para agilizarmos os cadastros e automaticamente todo processo.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500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092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pt-BR" dirty="0" smtClean="0"/>
              <a:t>ABRAMGE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084218"/>
            <a:ext cx="10515600" cy="5643153"/>
          </a:xfrm>
        </p:spPr>
        <p:txBody>
          <a:bodyPr>
            <a:normAutofit fontScale="25000" lnSpcReduction="20000"/>
          </a:bodyPr>
          <a:lstStyle/>
          <a:p>
            <a:endParaRPr lang="pt-BR" sz="3800" dirty="0" smtClean="0"/>
          </a:p>
          <a:p>
            <a:r>
              <a:rPr lang="pt-BR" sz="7400" dirty="0" smtClean="0"/>
              <a:t>Enviar </a:t>
            </a:r>
            <a:r>
              <a:rPr lang="pt-BR" sz="7400" dirty="0"/>
              <a:t>anexo da guia e documentação necessária via e-mail para: </a:t>
            </a:r>
            <a:r>
              <a:rPr lang="pt-BR" sz="7400" b="1" i="1" u="sng" dirty="0">
                <a:hlinkClick r:id="rId2"/>
              </a:rPr>
              <a:t>usisaudesoc@fsfx.com.br</a:t>
            </a:r>
            <a:r>
              <a:rPr lang="pt-BR" sz="7400" dirty="0"/>
              <a:t>; informando que o paciente internou na urgência e solicitando autorização da internação.</a:t>
            </a:r>
          </a:p>
          <a:p>
            <a:r>
              <a:rPr lang="pt-BR" sz="7400" dirty="0"/>
              <a:t>Após envio do e-mail, ligar para o 0800 283 0040 informando o envio do e-mail e solicitando autorização pois o paciente está aguardando autorização para internar</a:t>
            </a:r>
            <a:r>
              <a:rPr lang="pt-BR" sz="7400" dirty="0" smtClean="0"/>
              <a:t>.</a:t>
            </a:r>
          </a:p>
          <a:p>
            <a:r>
              <a:rPr lang="pt-BR" sz="7400" dirty="0" smtClean="0">
                <a:solidFill>
                  <a:srgbClr val="FF0000"/>
                </a:solidFill>
              </a:rPr>
              <a:t>De </a:t>
            </a:r>
            <a:r>
              <a:rPr lang="pt-BR" sz="7400" dirty="0">
                <a:solidFill>
                  <a:srgbClr val="FF0000"/>
                </a:solidFill>
              </a:rPr>
              <a:t>forma preferencial e particular, solicito da seguinte forma</a:t>
            </a:r>
            <a:r>
              <a:rPr lang="pt-BR" sz="7400" dirty="0" smtClean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pt-BR" sz="7400" dirty="0" smtClean="0"/>
              <a:t>Boa </a:t>
            </a:r>
            <a:r>
              <a:rPr lang="pt-BR" sz="7400" dirty="0"/>
              <a:t>tarde!</a:t>
            </a:r>
          </a:p>
          <a:p>
            <a:pPr marL="0" indent="0">
              <a:buNone/>
            </a:pPr>
            <a:r>
              <a:rPr lang="pt-BR" sz="7400" dirty="0"/>
              <a:t>Solicito autorização de internação:</a:t>
            </a:r>
          </a:p>
          <a:p>
            <a:pPr marL="0" indent="0">
              <a:buNone/>
            </a:pPr>
            <a:r>
              <a:rPr lang="pt-BR" sz="7400" dirty="0"/>
              <a:t> </a:t>
            </a:r>
          </a:p>
          <a:p>
            <a:pPr marL="0" indent="0">
              <a:buNone/>
            </a:pPr>
            <a:r>
              <a:rPr lang="pt-BR" sz="7400" dirty="0"/>
              <a:t>Beneficiário: Luzia Martins Gomes</a:t>
            </a:r>
          </a:p>
          <a:p>
            <a:pPr marL="0" indent="0">
              <a:buNone/>
            </a:pPr>
            <a:r>
              <a:rPr lang="pt-BR" sz="7400" dirty="0"/>
              <a:t>Matrícula: 0101/00/3-073779-00-36</a:t>
            </a:r>
          </a:p>
          <a:p>
            <a:pPr marL="0" indent="0">
              <a:buNone/>
            </a:pPr>
            <a:r>
              <a:rPr lang="pt-BR" sz="7400" dirty="0"/>
              <a:t>Data de internação: 20/10/2020</a:t>
            </a:r>
          </a:p>
          <a:p>
            <a:pPr marL="0" indent="0">
              <a:buNone/>
            </a:pPr>
            <a:r>
              <a:rPr lang="pt-BR" sz="7400" dirty="0"/>
              <a:t>Tipo de internação: Clínica</a:t>
            </a:r>
          </a:p>
          <a:p>
            <a:pPr marL="0" indent="0">
              <a:buNone/>
            </a:pPr>
            <a:r>
              <a:rPr lang="pt-BR" sz="7400" dirty="0" err="1"/>
              <a:t>Qtde</a:t>
            </a:r>
            <a:r>
              <a:rPr lang="pt-BR" sz="7400" dirty="0"/>
              <a:t>. diárias solicitadas: 05</a:t>
            </a:r>
          </a:p>
          <a:p>
            <a:pPr marL="0" indent="0">
              <a:buNone/>
            </a:pPr>
            <a:r>
              <a:rPr lang="pt-BR" sz="7400" dirty="0"/>
              <a:t>Caráter: Urgência/Emergência</a:t>
            </a:r>
          </a:p>
          <a:p>
            <a:pPr marL="0" indent="0">
              <a:buNone/>
            </a:pPr>
            <a:r>
              <a:rPr lang="pt-BR" sz="7400" dirty="0"/>
              <a:t>Médico: Gustavo Henrique de Melo da Silva – CRM 36346</a:t>
            </a:r>
          </a:p>
          <a:p>
            <a:pPr marL="0" indent="0">
              <a:buNone/>
            </a:pPr>
            <a:r>
              <a:rPr lang="pt-BR" sz="7400" dirty="0"/>
              <a:t>Hospital César Leite – 22.263.081/0001-55</a:t>
            </a:r>
          </a:p>
          <a:p>
            <a:pPr marL="0" indent="0">
              <a:buNone/>
            </a:pPr>
            <a:r>
              <a:rPr lang="pt-BR" sz="7400" dirty="0"/>
              <a:t>Realizando internação pelo convênio ABRAMGE</a:t>
            </a:r>
            <a:r>
              <a:rPr lang="pt-BR" sz="7400" dirty="0" smtClean="0"/>
              <a:t>.</a:t>
            </a:r>
          </a:p>
          <a:p>
            <a:pPr marL="0" indent="0">
              <a:buNone/>
            </a:pPr>
            <a:endParaRPr lang="pt-BR" sz="7400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9709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784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pt-BR" dirty="0" smtClean="0"/>
              <a:t>CASSI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227910"/>
            <a:ext cx="10515600" cy="5251267"/>
          </a:xfrm>
        </p:spPr>
        <p:txBody>
          <a:bodyPr>
            <a:normAutofit/>
          </a:bodyPr>
          <a:lstStyle/>
          <a:p>
            <a:r>
              <a:rPr lang="pt-BR" dirty="0"/>
              <a:t>Preencher </a:t>
            </a:r>
            <a:r>
              <a:rPr lang="pt-BR" dirty="0" smtClean="0"/>
              <a:t>devidamente a guia, </a:t>
            </a:r>
            <a:r>
              <a:rPr lang="pt-BR" dirty="0"/>
              <a:t>verificar assinatura e </a:t>
            </a:r>
            <a:r>
              <a:rPr lang="pt-BR" dirty="0" smtClean="0"/>
              <a:t>devido preenchimento do médico;</a:t>
            </a:r>
            <a:endParaRPr lang="pt-BR" dirty="0"/>
          </a:p>
          <a:p>
            <a:r>
              <a:rPr lang="pt-BR" dirty="0"/>
              <a:t>Abrir </a:t>
            </a:r>
            <a:r>
              <a:rPr lang="pt-BR" dirty="0" smtClean="0"/>
              <a:t>o site da </a:t>
            </a:r>
            <a:r>
              <a:rPr lang="pt-BR" dirty="0"/>
              <a:t>Orizon, </a:t>
            </a:r>
            <a:r>
              <a:rPr lang="pt-BR" dirty="0" smtClean="0"/>
              <a:t>clicar em </a:t>
            </a:r>
            <a:r>
              <a:rPr lang="pt-BR" dirty="0"/>
              <a:t>“Internação”, “Solicitação”, preencher os campos obrigatórios e anexar a documentação necessária. Feito isso, “Executar”.</a:t>
            </a:r>
          </a:p>
          <a:p>
            <a:r>
              <a:rPr lang="pt-BR" dirty="0"/>
              <a:t>Em casos de cadastros para parto, este convênio tem a particularidade de ter que enviar a última USG realizada pela gestante</a:t>
            </a:r>
            <a:r>
              <a:rPr lang="pt-BR" dirty="0" smtClean="0"/>
              <a:t>.</a:t>
            </a:r>
          </a:p>
          <a:p>
            <a:r>
              <a:rPr lang="pt-BR" dirty="0" smtClean="0"/>
              <a:t>As solicitações no sistema deverá conter a ACOMODAÇÃO, sendo ela Apartamento ou UTI.</a:t>
            </a:r>
            <a:endParaRPr lang="pt-BR" dirty="0"/>
          </a:p>
          <a:p>
            <a:r>
              <a:rPr lang="pt-BR" dirty="0" smtClean="0"/>
              <a:t>Em casos de internações eletivas, entrar em contato com a Central de Guias.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0481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600" dirty="0" smtClean="0"/>
              <a:t>ATENÇÃO: Nos pedidos de internação do convênio CASSI é </a:t>
            </a:r>
            <a:r>
              <a:rPr lang="pt-BR" sz="3600" b="1" dirty="0" smtClean="0"/>
              <a:t>imprescindível</a:t>
            </a:r>
            <a:r>
              <a:rPr lang="pt-BR" sz="3600" dirty="0" smtClean="0"/>
              <a:t> que a solicitação seja realizada na data da internação e que contenha a solicitação da diária referente à acomodação que o paciente ocupou (Apartamento ou UTI).</a:t>
            </a:r>
            <a:endParaRPr lang="pt-BR" sz="3600" dirty="0"/>
          </a:p>
          <a:p>
            <a:endParaRPr lang="pt-BR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pt-BR" dirty="0" smtClean="0"/>
              <a:t>CASSI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0708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344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pt-BR" dirty="0" smtClean="0"/>
              <a:t>IPSEMG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136470"/>
            <a:ext cx="10515600" cy="5512524"/>
          </a:xfrm>
        </p:spPr>
        <p:txBody>
          <a:bodyPr>
            <a:normAutofit/>
          </a:bodyPr>
          <a:lstStyle/>
          <a:p>
            <a:r>
              <a:rPr lang="pt-BR" dirty="0" smtClean="0"/>
              <a:t>Abrir o site do </a:t>
            </a:r>
            <a:r>
              <a:rPr lang="pt-BR" dirty="0"/>
              <a:t>SAFe, </a:t>
            </a:r>
            <a:r>
              <a:rPr lang="pt-BR" dirty="0" smtClean="0"/>
              <a:t>clicar em </a:t>
            </a:r>
            <a:r>
              <a:rPr lang="pt-BR" dirty="0"/>
              <a:t>“Regulação”, “Solicitar Internação”, preencher os campos obrigatórios e, anexar a documentação necessária. Feito isso, “</a:t>
            </a:r>
            <a:r>
              <a:rPr lang="pt-BR" b="1" dirty="0"/>
              <a:t>Executar</a:t>
            </a:r>
            <a:r>
              <a:rPr lang="pt-BR" dirty="0"/>
              <a:t>”.</a:t>
            </a:r>
          </a:p>
          <a:p>
            <a:r>
              <a:rPr lang="pt-BR" dirty="0"/>
              <a:t>Para acompanhar a solicitação da autorização, clicar em “Regulação”, “Acompanhar Internação”, e pesquisar. Ao realizar a pesquisa estará descrito se </a:t>
            </a:r>
            <a:r>
              <a:rPr lang="pt-BR" b="1" dirty="0"/>
              <a:t>está autorizado, em análise, avaliado com pendência, negado, ou encerrado</a:t>
            </a:r>
            <a:r>
              <a:rPr lang="pt-BR" dirty="0"/>
              <a:t>. Para ler a observação dada pelo SAFe, basta clicar em </a:t>
            </a:r>
            <a:r>
              <a:rPr lang="pt-BR" b="1" dirty="0"/>
              <a:t>“DETALHES</a:t>
            </a:r>
            <a:r>
              <a:rPr lang="pt-BR" dirty="0"/>
              <a:t>” e visualizar a guia. Caso tenha alguma pendência e necessite anexar algum arquivo para responder, basta clicar em qualquer outro campo da busca realizada que irá abrir a tela como se fosse cadastrar um novo procedimento do zero. Após anexar o arquivo e responder, clicar em “Executar” e a guia irá voltar para análise.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72492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84" y="156754"/>
            <a:ext cx="11639006" cy="642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32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08" y="300445"/>
            <a:ext cx="11573691" cy="6426926"/>
          </a:xfrm>
        </p:spPr>
      </p:pic>
    </p:spTree>
    <p:extLst>
      <p:ext uri="{BB962C8B-B14F-4D97-AF65-F5344CB8AC3E}">
        <p14:creationId xmlns:p14="http://schemas.microsoft.com/office/powerpoint/2010/main" val="389007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222069"/>
            <a:ext cx="11704321" cy="6466114"/>
          </a:xfrm>
        </p:spPr>
      </p:pic>
    </p:spTree>
    <p:extLst>
      <p:ext uri="{BB962C8B-B14F-4D97-AF65-F5344CB8AC3E}">
        <p14:creationId xmlns:p14="http://schemas.microsoft.com/office/powerpoint/2010/main" val="3861388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83" y="209006"/>
            <a:ext cx="11534503" cy="6413863"/>
          </a:xfrm>
        </p:spPr>
      </p:pic>
    </p:spTree>
    <p:extLst>
      <p:ext uri="{BB962C8B-B14F-4D97-AF65-F5344CB8AC3E}">
        <p14:creationId xmlns:p14="http://schemas.microsoft.com/office/powerpoint/2010/main" val="4118600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14" y="143691"/>
            <a:ext cx="11452460" cy="6557555"/>
          </a:xfrm>
        </p:spPr>
      </p:pic>
    </p:spTree>
    <p:extLst>
      <p:ext uri="{BB962C8B-B14F-4D97-AF65-F5344CB8AC3E}">
        <p14:creationId xmlns:p14="http://schemas.microsoft.com/office/powerpoint/2010/main" val="76843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5481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pt-BR" dirty="0"/>
              <a:t>IPSEMG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smtClean="0"/>
              <a:t>Devemos nos atentar </a:t>
            </a:r>
            <a:r>
              <a:rPr lang="pt-BR" b="1" dirty="0"/>
              <a:t>aos </a:t>
            </a:r>
            <a:r>
              <a:rPr lang="pt-BR" b="1" dirty="0" smtClean="0"/>
              <a:t>pacientes que internarem fora do horário de funcionamento da Central, pois, caso haja possibilidade </a:t>
            </a:r>
            <a:r>
              <a:rPr lang="pt-BR" b="1" dirty="0"/>
              <a:t>de transferência, deve ser cadastrado de forma imediata para que não percamos a conta do paciente. </a:t>
            </a:r>
            <a:r>
              <a:rPr lang="pt-BR" b="1" dirty="0" smtClean="0"/>
              <a:t>Uma </a:t>
            </a:r>
            <a:r>
              <a:rPr lang="pt-BR" b="1" dirty="0"/>
              <a:t>vez que o paciente </a:t>
            </a:r>
            <a:r>
              <a:rPr lang="pt-BR" b="1" dirty="0" smtClean="0"/>
              <a:t>der </a:t>
            </a:r>
            <a:r>
              <a:rPr lang="pt-BR" b="1" dirty="0"/>
              <a:t>entrada no SAFe em outro estabelecimento não </a:t>
            </a:r>
            <a:r>
              <a:rPr lang="pt-BR" b="1" dirty="0" smtClean="0"/>
              <a:t>conseguiremos realizar </a:t>
            </a:r>
            <a:r>
              <a:rPr lang="pt-BR" b="1" dirty="0"/>
              <a:t>alterações ou solicitar quaisquer tipos de atendimentos em nosso hospital.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20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pt-BR" dirty="0" smtClean="0"/>
              <a:t>PLANCEL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4000" dirty="0"/>
              <a:t>Preencher </a:t>
            </a:r>
            <a:r>
              <a:rPr lang="pt-BR" sz="4000" dirty="0" smtClean="0"/>
              <a:t>devidamente a guia, </a:t>
            </a:r>
            <a:r>
              <a:rPr lang="pt-BR" sz="4000" dirty="0"/>
              <a:t>verificar assinatura e </a:t>
            </a:r>
            <a:r>
              <a:rPr lang="pt-BR" sz="4000" dirty="0" smtClean="0"/>
              <a:t>descrição médica da história </a:t>
            </a:r>
            <a:r>
              <a:rPr lang="pt-BR" sz="4000" dirty="0"/>
              <a:t>clínica.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2549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pt-BR" dirty="0" smtClean="0"/>
              <a:t>POSTAL SAÚDE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600" dirty="0"/>
              <a:t>Preencher </a:t>
            </a:r>
            <a:r>
              <a:rPr lang="pt-BR" sz="3600" dirty="0" smtClean="0"/>
              <a:t>devidamente a guia, </a:t>
            </a:r>
            <a:r>
              <a:rPr lang="pt-BR" sz="3600" dirty="0"/>
              <a:t>verificar assinatura e </a:t>
            </a:r>
            <a:r>
              <a:rPr lang="pt-BR" sz="3600" dirty="0" smtClean="0"/>
              <a:t>descrição médica da história </a:t>
            </a:r>
            <a:r>
              <a:rPr lang="pt-BR" sz="3600" dirty="0"/>
              <a:t>clínica.</a:t>
            </a:r>
          </a:p>
          <a:p>
            <a:r>
              <a:rPr lang="pt-BR" sz="3600" dirty="0"/>
              <a:t>Abrir o site </a:t>
            </a:r>
            <a:r>
              <a:rPr lang="pt-BR" sz="3600" dirty="0" smtClean="0"/>
              <a:t>da </a:t>
            </a:r>
            <a:r>
              <a:rPr lang="pt-BR" sz="3600" dirty="0"/>
              <a:t>Postal Saúde, </a:t>
            </a:r>
            <a:r>
              <a:rPr lang="pt-BR" sz="3600" dirty="0" smtClean="0"/>
              <a:t>clicar em </a:t>
            </a:r>
            <a:r>
              <a:rPr lang="pt-BR" sz="3600" dirty="0"/>
              <a:t>“Internações”, “Solicitação de Internação”, preencher os campos obrigatórios, “Salvar”, preencher campos obrigatórios, anexar a documentação necessária, “Validar/Salvar”.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615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pPr algn="ctr"/>
            <a:r>
              <a:rPr lang="pt-BR" b="1" dirty="0" smtClean="0">
                <a:solidFill>
                  <a:schemeClr val="bg1"/>
                </a:solidFill>
              </a:rPr>
              <a:t>COPASS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Vamos abrir o site do </a:t>
            </a:r>
            <a:r>
              <a:rPr lang="pt-BR" dirty="0" err="1" smtClean="0"/>
              <a:t>Operass</a:t>
            </a:r>
            <a:r>
              <a:rPr lang="pt-BR" dirty="0"/>
              <a:t> </a:t>
            </a:r>
            <a:r>
              <a:rPr lang="pt-BR" dirty="0" smtClean="0"/>
              <a:t>www.copass-saude.org.br, clicar em Home, Principal, Autorização, Internação, preencher corretamente os campos do sistema, e posteriormente clicar em Autorizar.</a:t>
            </a:r>
          </a:p>
          <a:p>
            <a:r>
              <a:rPr lang="pt-BR" dirty="0" smtClean="0"/>
              <a:t>Somente depois de clicar em autorizar que conseguiremos anexar a guia e os exames do paciente. (Temos que atentar que não será aberto uma outra página. Vamos descer até o final da página onde será liberado um campo com o nome DOCUMENTOS ao lado do campo do procedimento). </a:t>
            </a:r>
          </a:p>
          <a:p>
            <a:r>
              <a:rPr lang="pt-BR" dirty="0" smtClean="0"/>
              <a:t>Para acompanhar a solicitação: Home, Principal, Autorização, Autorizações realizadas. Em filtros vamos colocar o nome do(a) beneficiário(a), posteriormente pesquisar.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0201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pPr algn="ctr"/>
            <a:r>
              <a:rPr lang="pt-BR" b="1" dirty="0" smtClean="0">
                <a:solidFill>
                  <a:schemeClr val="bg1"/>
                </a:solidFill>
              </a:rPr>
              <a:t>AMAGIS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942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35132"/>
            <a:ext cx="10515600" cy="901338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pt-BR" dirty="0" smtClean="0"/>
              <a:t>PROMED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136470"/>
            <a:ext cx="10515600" cy="5499461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Preencher devidamente a guia, verificar assinatura e descrição médica da história clínica.</a:t>
            </a:r>
          </a:p>
          <a:p>
            <a:r>
              <a:rPr lang="pt-BR" dirty="0" smtClean="0"/>
              <a:t>Ligar </a:t>
            </a:r>
            <a:r>
              <a:rPr lang="pt-BR" dirty="0"/>
              <a:t>no 0800 600 7727 ou 7730, informar ser </a:t>
            </a:r>
            <a:r>
              <a:rPr lang="pt-BR" dirty="0" smtClean="0"/>
              <a:t>prestador, que um paciente da operadora internou no </a:t>
            </a:r>
            <a:r>
              <a:rPr lang="pt-BR" dirty="0"/>
              <a:t>estabelecimento e </a:t>
            </a:r>
            <a:r>
              <a:rPr lang="pt-BR" dirty="0" smtClean="0"/>
              <a:t>solicitar a autorização da internação do mesmo. </a:t>
            </a:r>
          </a:p>
          <a:p>
            <a:r>
              <a:rPr lang="pt-BR" dirty="0" smtClean="0"/>
              <a:t>Informar </a:t>
            </a:r>
            <a:r>
              <a:rPr lang="pt-BR" dirty="0"/>
              <a:t>todos os dados conforme </a:t>
            </a:r>
            <a:r>
              <a:rPr lang="pt-BR" dirty="0" smtClean="0"/>
              <a:t>solicitação do </a:t>
            </a:r>
            <a:r>
              <a:rPr lang="pt-BR" dirty="0"/>
              <a:t>atendente do </a:t>
            </a:r>
            <a:r>
              <a:rPr lang="pt-BR" dirty="0" smtClean="0"/>
              <a:t>convênio. </a:t>
            </a:r>
            <a:r>
              <a:rPr lang="pt-BR" dirty="0"/>
              <a:t>Após o </a:t>
            </a:r>
            <a:r>
              <a:rPr lang="pt-BR" dirty="0" smtClean="0"/>
              <a:t>cadastro da internação, será informado o </a:t>
            </a:r>
            <a:r>
              <a:rPr lang="pt-BR" dirty="0"/>
              <a:t>número da guia </a:t>
            </a:r>
            <a:r>
              <a:rPr lang="pt-BR" dirty="0" smtClean="0"/>
              <a:t>e o </a:t>
            </a:r>
            <a:r>
              <a:rPr lang="pt-BR" dirty="0"/>
              <a:t>protocolo </a:t>
            </a:r>
            <a:r>
              <a:rPr lang="pt-BR" dirty="0" smtClean="0"/>
              <a:t>do </a:t>
            </a:r>
            <a:r>
              <a:rPr lang="pt-BR" dirty="0"/>
              <a:t>atendimento, </a:t>
            </a:r>
            <a:r>
              <a:rPr lang="pt-BR" dirty="0" smtClean="0"/>
              <a:t>que será o meio de acompanhamento no </a:t>
            </a:r>
            <a:r>
              <a:rPr lang="pt-BR" dirty="0"/>
              <a:t>site.</a:t>
            </a:r>
          </a:p>
          <a:p>
            <a:r>
              <a:rPr lang="pt-BR" dirty="0"/>
              <a:t>Para acompanhar a internação no </a:t>
            </a:r>
            <a:r>
              <a:rPr lang="pt-BR" dirty="0" smtClean="0"/>
              <a:t>site clicar em </a:t>
            </a:r>
            <a:r>
              <a:rPr lang="pt-BR" dirty="0"/>
              <a:t>“Emissão de guias”, “Relação de guias emitidas”, filtrar a busca da maneira que achar mais </a:t>
            </a:r>
            <a:r>
              <a:rPr lang="pt-BR" dirty="0" smtClean="0"/>
              <a:t>viável, </a:t>
            </a:r>
            <a:r>
              <a:rPr lang="pt-BR" dirty="0"/>
              <a:t>“Listar autorizações”. Irá abrir a listagem de relação das guias emitidas, autorizada, autorizada parcialmente, em análise, negada, cancelada. Verificar a situação da guia, se </a:t>
            </a:r>
            <a:r>
              <a:rPr lang="pt-BR" dirty="0" smtClean="0"/>
              <a:t>estiver </a:t>
            </a:r>
            <a:r>
              <a:rPr lang="pt-BR" dirty="0"/>
              <a:t>conforme solicitado, emitir. Se tiver algo divergente, ligar no convênio para esclarecer a dúvida gerada.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0180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34" y="339634"/>
            <a:ext cx="11547565" cy="6165669"/>
          </a:xfrm>
        </p:spPr>
      </p:pic>
    </p:spTree>
    <p:extLst>
      <p:ext uri="{BB962C8B-B14F-4D97-AF65-F5344CB8AC3E}">
        <p14:creationId xmlns:p14="http://schemas.microsoft.com/office/powerpoint/2010/main" val="185917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0" y="365760"/>
            <a:ext cx="11691256" cy="6139543"/>
          </a:xfrm>
        </p:spPr>
      </p:pic>
    </p:spTree>
    <p:extLst>
      <p:ext uri="{BB962C8B-B14F-4D97-AF65-F5344CB8AC3E}">
        <p14:creationId xmlns:p14="http://schemas.microsoft.com/office/powerpoint/2010/main" val="3231533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9538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pt-BR" dirty="0" smtClean="0"/>
              <a:t>SEPASI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84664"/>
            <a:ext cx="10515600" cy="4792299"/>
          </a:xfrm>
        </p:spPr>
        <p:txBody>
          <a:bodyPr/>
          <a:lstStyle/>
          <a:p>
            <a:r>
              <a:rPr lang="pt-BR" sz="3200" dirty="0"/>
              <a:t>Verificar pedido médico, história clínica, se consta CID, assinatura e carimbo médico.</a:t>
            </a:r>
          </a:p>
          <a:p>
            <a:r>
              <a:rPr lang="pt-BR" sz="3200" dirty="0"/>
              <a:t>Enviar e-mail para: </a:t>
            </a:r>
            <a:r>
              <a:rPr lang="pt-BR" sz="3200" b="1" i="1" u="sng" dirty="0">
                <a:hlinkClick r:id="rId2"/>
              </a:rPr>
              <a:t>soniasoares.sepasi@hotmail.com</a:t>
            </a:r>
            <a:r>
              <a:rPr lang="pt-BR" sz="3200" dirty="0"/>
              <a:t>; com anexo do pedido médico e exames, se o paciente tiver realizado. Após envio, ligar para Sônia (28) 99886-0219 informando do envio do e-mail e seguir instruções fornecidas por ela.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116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0978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pt-BR" dirty="0" smtClean="0"/>
              <a:t>VITALLIS/NOTREDAME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76104"/>
            <a:ext cx="10515600" cy="4700859"/>
          </a:xfrm>
        </p:spPr>
        <p:txBody>
          <a:bodyPr>
            <a:normAutofit fontScale="92500" lnSpcReduction="10000"/>
          </a:bodyPr>
          <a:lstStyle/>
          <a:p>
            <a:r>
              <a:rPr lang="pt-BR" dirty="0" smtClean="0"/>
              <a:t>Abrir </a:t>
            </a:r>
            <a:r>
              <a:rPr lang="pt-BR" dirty="0"/>
              <a:t>o site da Vitallis, </a:t>
            </a:r>
            <a:r>
              <a:rPr lang="pt-BR" dirty="0" smtClean="0"/>
              <a:t>clicar em </a:t>
            </a:r>
            <a:r>
              <a:rPr lang="pt-BR" dirty="0"/>
              <a:t>“Emissão de Guias”, “Guia de Solicitação de internação”, preencher os campos obrigatórios e anexar a documentação necessária. Feito isso, “Autorizar”.</a:t>
            </a:r>
          </a:p>
          <a:p>
            <a:r>
              <a:rPr lang="pt-BR" i="1" dirty="0"/>
              <a:t>OBS:</a:t>
            </a:r>
            <a:r>
              <a:rPr lang="pt-BR" dirty="0"/>
              <a:t> O solicitante sempre será o médico que preencher a guia, a especialidade do solicitante aparece de forma automática, deve-se atentar a especialidade, pois o mesmo médico pode conter mais de um cadastro no site, e sua especialidade deve estar sempre coerente com sua função exercida.</a:t>
            </a:r>
          </a:p>
          <a:p>
            <a:r>
              <a:rPr lang="pt-BR" dirty="0"/>
              <a:t>O executante sempre será HOSPITAL CESAR LEITE LTDA, e a especialidade deve ser colocada a mesma do médico solicitante</a:t>
            </a:r>
            <a:r>
              <a:rPr lang="pt-BR" dirty="0" smtClean="0"/>
              <a:t>.</a:t>
            </a:r>
          </a:p>
          <a:p>
            <a:r>
              <a:rPr lang="pt-BR" dirty="0" smtClean="0"/>
              <a:t>Em solicitações de PARTOS, deverá ser solicitado ENFERMARIA COM ALOJAMENTO CONJUNTO. As demais solicitações deverão ser solicitadas ENFERMARIA.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471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Conteúdo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63" y="209006"/>
            <a:ext cx="11338560" cy="6322423"/>
          </a:xfrm>
        </p:spPr>
      </p:pic>
    </p:spTree>
    <p:extLst>
      <p:ext uri="{BB962C8B-B14F-4D97-AF65-F5344CB8AC3E}">
        <p14:creationId xmlns:p14="http://schemas.microsoft.com/office/powerpoint/2010/main" val="3280084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248194"/>
            <a:ext cx="11730038" cy="6296297"/>
          </a:xfrm>
        </p:spPr>
      </p:pic>
    </p:spTree>
    <p:extLst>
      <p:ext uri="{BB962C8B-B14F-4D97-AF65-F5344CB8AC3E}">
        <p14:creationId xmlns:p14="http://schemas.microsoft.com/office/powerpoint/2010/main" val="345720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525" y="509451"/>
            <a:ext cx="5316583" cy="5654450"/>
          </a:xfrm>
        </p:spPr>
      </p:pic>
    </p:spTree>
    <p:extLst>
      <p:ext uri="{BB962C8B-B14F-4D97-AF65-F5344CB8AC3E}">
        <p14:creationId xmlns:p14="http://schemas.microsoft.com/office/powerpoint/2010/main" val="32956261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560" y="561702"/>
            <a:ext cx="5408024" cy="5930537"/>
          </a:xfrm>
        </p:spPr>
      </p:pic>
    </p:spTree>
    <p:extLst>
      <p:ext uri="{BB962C8B-B14F-4D97-AF65-F5344CB8AC3E}">
        <p14:creationId xmlns:p14="http://schemas.microsoft.com/office/powerpoint/2010/main" val="3260909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8194" y="274320"/>
            <a:ext cx="11573692" cy="6152606"/>
          </a:xfrm>
        </p:spPr>
        <p:txBody>
          <a:bodyPr>
            <a:normAutofit fontScale="77500" lnSpcReduction="20000"/>
          </a:bodyPr>
          <a:lstStyle/>
          <a:p>
            <a:r>
              <a:rPr lang="pt-BR" b="1" u="sng" dirty="0"/>
              <a:t>Considerações Finais</a:t>
            </a:r>
            <a:r>
              <a:rPr lang="pt-BR" b="1" u="sng" dirty="0" smtClean="0"/>
              <a:t>:</a:t>
            </a:r>
          </a:p>
          <a:p>
            <a:pPr marL="0" indent="0">
              <a:buNone/>
            </a:pPr>
            <a:endParaRPr lang="pt-BR" b="1" u="sng" dirty="0"/>
          </a:p>
          <a:p>
            <a:r>
              <a:rPr lang="pt-BR" b="1" dirty="0" smtClean="0"/>
              <a:t>Quem codifica procedimento é o médico responsável pela realização. </a:t>
            </a:r>
            <a:endParaRPr lang="pt-BR" b="1" dirty="0"/>
          </a:p>
          <a:p>
            <a:r>
              <a:rPr lang="pt-BR" dirty="0"/>
              <a:t>Para os cadastros de convênios online: em casos de procedimentos cirúrgicos, anexar laudo ou resultado de exames prévios. Principalmente se forem casos de ortopedia.</a:t>
            </a:r>
          </a:p>
          <a:p>
            <a:r>
              <a:rPr lang="pt-BR" dirty="0"/>
              <a:t>Ao anexar quaisquer arquivos para solicitar autorização, deve estar mostrando de forma clara o carimbo e a assinatura do médico.</a:t>
            </a:r>
          </a:p>
          <a:p>
            <a:r>
              <a:rPr lang="pt-BR" b="1" dirty="0"/>
              <a:t>Guias rasuradas, rasgadas, </a:t>
            </a:r>
            <a:r>
              <a:rPr lang="pt-BR" b="1" dirty="0" smtClean="0"/>
              <a:t>ou </a:t>
            </a:r>
            <a:r>
              <a:rPr lang="pt-BR" b="1" dirty="0"/>
              <a:t>com alguma “precariedade” não serão aceitas. Alguns auditores de determinados convênios não aceitam a guia de tal forma, glosando a conta e atrasando o processo de faturamento.</a:t>
            </a:r>
          </a:p>
          <a:p>
            <a:r>
              <a:rPr lang="pt-BR" dirty="0"/>
              <a:t>Se a guia, ou qualquer documento obrigatório ou solicitado pelo convênio for anexado de forma ilegível, o convênio irá nos devolver a guia como NEGADA ou CANCELADA. </a:t>
            </a:r>
            <a:r>
              <a:rPr lang="pt-BR" dirty="0" smtClean="0"/>
              <a:t>Portanto</a:t>
            </a:r>
            <a:r>
              <a:rPr lang="pt-BR" dirty="0"/>
              <a:t>, ao </a:t>
            </a:r>
            <a:r>
              <a:rPr lang="pt-BR" dirty="0" err="1"/>
              <a:t>escanear</a:t>
            </a:r>
            <a:r>
              <a:rPr lang="pt-BR" dirty="0"/>
              <a:t>, verifique como ficou a digitalização para que não tenha o trabalho de cadastrar tudo novamente.</a:t>
            </a:r>
          </a:p>
          <a:p>
            <a:r>
              <a:rPr lang="pt-BR" dirty="0"/>
              <a:t>DICA: Sempre anexar os arquivos (quando possível) antes de preencher os campos da solicitação, pois em alguns sites, temos uma certa “dificuldade” em anexar por erro do próprio site.</a:t>
            </a:r>
          </a:p>
          <a:p>
            <a:r>
              <a:rPr lang="pt-BR" dirty="0"/>
              <a:t>GUIAS ELETIVAS: Entramos em acordo de que quando houver cirurgias eletivas de qualquer convênio, </a:t>
            </a:r>
            <a:r>
              <a:rPr lang="pt-BR" dirty="0" smtClean="0"/>
              <a:t>os colaboradores da Secretaria irão entrar em contato com a Central de Guias para que possamos fazer a abertura no sistema do convênio, facilitando </a:t>
            </a:r>
            <a:r>
              <a:rPr lang="pt-BR" dirty="0"/>
              <a:t>o atendimento dos </a:t>
            </a:r>
            <a:r>
              <a:rPr lang="pt-BR" dirty="0" smtClean="0"/>
              <a:t>colegas e reduzindo o risco de extravio da guia autorizada. </a:t>
            </a:r>
            <a:r>
              <a:rPr lang="pt-BR" dirty="0"/>
              <a:t>Com exceção de Plancel e </a:t>
            </a:r>
            <a:r>
              <a:rPr lang="pt-BR" dirty="0" smtClean="0"/>
              <a:t>Unimed, o paciente tem que estar em posse da guia autorizada para que seja feita a internação do mesmo.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42997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pt-BR" dirty="0" smtClean="0">
                <a:solidFill>
                  <a:srgbClr val="FF0000"/>
                </a:solidFill>
              </a:rPr>
              <a:t>DEVEMOS FICAR ATENTOS!!!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As solicitações devem ser realizadas na data da internação do paciente sob pena de não conseguir autorização retroativa;</a:t>
            </a:r>
          </a:p>
          <a:p>
            <a:r>
              <a:rPr lang="pt-BR" dirty="0" smtClean="0"/>
              <a:t>Necessário atenção ao solicitar as autorizações, em caso de dúvida quanto aos códigos, solicitar ao médico que codifique;</a:t>
            </a:r>
          </a:p>
          <a:p>
            <a:pPr algn="just"/>
            <a:r>
              <a:rPr lang="pt-BR" dirty="0"/>
              <a:t>Pendências precisam ser repassadas com clareza das </a:t>
            </a:r>
            <a:r>
              <a:rPr lang="pt-BR" dirty="0" smtClean="0"/>
              <a:t>informações;</a:t>
            </a:r>
            <a:endParaRPr lang="pt-BR" dirty="0"/>
          </a:p>
          <a:p>
            <a:pPr algn="just"/>
            <a:r>
              <a:rPr lang="pt-BR" dirty="0" smtClean="0"/>
              <a:t>Guias originais devem </a:t>
            </a:r>
            <a:r>
              <a:rPr lang="pt-BR" dirty="0"/>
              <a:t>ser retidas </a:t>
            </a:r>
            <a:r>
              <a:rPr lang="pt-BR" dirty="0" smtClean="0"/>
              <a:t>na Secretaria, </a:t>
            </a:r>
            <a:r>
              <a:rPr lang="pt-BR" dirty="0"/>
              <a:t>sendo entregues somente </a:t>
            </a:r>
            <a:r>
              <a:rPr lang="pt-BR" dirty="0" smtClean="0"/>
              <a:t>a um dos responsáveis da Central </a:t>
            </a:r>
            <a:r>
              <a:rPr lang="pt-BR" dirty="0"/>
              <a:t>de </a:t>
            </a:r>
            <a:r>
              <a:rPr lang="pt-BR" dirty="0" smtClean="0"/>
              <a:t>Guias, </a:t>
            </a:r>
            <a:r>
              <a:rPr lang="pt-BR" dirty="0"/>
              <a:t>para que o </a:t>
            </a:r>
            <a:r>
              <a:rPr lang="pt-BR" dirty="0" smtClean="0"/>
              <a:t>setor encaminhe </a:t>
            </a:r>
            <a:r>
              <a:rPr lang="pt-BR" dirty="0"/>
              <a:t>e providencie o que for </a:t>
            </a:r>
            <a:r>
              <a:rPr lang="pt-BR" dirty="0" smtClean="0"/>
              <a:t>necessário;</a:t>
            </a:r>
          </a:p>
          <a:p>
            <a:pPr algn="just"/>
            <a:r>
              <a:rPr lang="pt-BR" dirty="0" smtClean="0"/>
              <a:t>Ipsemg possui manual de utilização autoexplicativo;</a:t>
            </a:r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Sem guia </a:t>
            </a:r>
            <a:r>
              <a:rPr lang="pt-BR" b="1" dirty="0">
                <a:solidFill>
                  <a:srgbClr val="FF0000"/>
                </a:solidFill>
              </a:rPr>
              <a:t>NÃO INTERNA.</a:t>
            </a:r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9816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pt-BR" sz="4800" dirty="0"/>
              <a:t>Onde podemos melhorar?</a:t>
            </a:r>
            <a:endParaRPr lang="pt-BR" dirty="0"/>
          </a:p>
        </p:txBody>
      </p:sp>
      <p:sp>
        <p:nvSpPr>
          <p:cNvPr id="17411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pt-BR" dirty="0" smtClean="0"/>
              <a:t>Atenção no preenchimento de guias, termos, e ao solicitar autorizações;</a:t>
            </a:r>
          </a:p>
          <a:p>
            <a:pPr eaLnBrk="1" hangingPunct="1">
              <a:buFont typeface="Wingdings 2" pitchFamily="18" charset="2"/>
              <a:buNone/>
            </a:pPr>
            <a:endParaRPr lang="pt-BR" dirty="0" smtClean="0"/>
          </a:p>
          <a:p>
            <a:pPr eaLnBrk="1" hangingPunct="1"/>
            <a:r>
              <a:rPr lang="pt-BR" dirty="0" smtClean="0"/>
              <a:t>Preencher corretamente e o máximo possível os dados do paciente (nome, endereço, telefone);</a:t>
            </a:r>
          </a:p>
          <a:p>
            <a:pPr eaLnBrk="1" hangingPunct="1">
              <a:buFont typeface="Wingdings 2" pitchFamily="18" charset="2"/>
              <a:buNone/>
            </a:pPr>
            <a:endParaRPr lang="pt-BR" dirty="0" smtClean="0"/>
          </a:p>
          <a:p>
            <a:pPr eaLnBrk="1" hangingPunct="1"/>
            <a:r>
              <a:rPr lang="pt-BR" dirty="0" smtClean="0"/>
              <a:t>Verificar atentamente o prazo de validade das senhas, a abrangência do paciente, a validade da carteirinha, a autorização dos </a:t>
            </a:r>
            <a:r>
              <a:rPr lang="pt-BR" dirty="0" err="1" smtClean="0"/>
              <a:t>OPMEs</a:t>
            </a:r>
            <a:r>
              <a:rPr lang="pt-BR" dirty="0" smtClean="0"/>
              <a:t>;</a:t>
            </a:r>
          </a:p>
          <a:p>
            <a:pPr eaLnBrk="1" hangingPunct="1"/>
            <a:r>
              <a:rPr lang="pt-BR" dirty="0" smtClean="0"/>
              <a:t>Acompanhar as solicitações iniciadas pelo colega do plantão anterior que ainda não foram autorizadas;</a:t>
            </a:r>
          </a:p>
          <a:p>
            <a:pPr eaLnBrk="1" hangingPunct="1"/>
            <a:endParaRPr lang="pt-BR" dirty="0" smtClean="0"/>
          </a:p>
          <a:p>
            <a:pPr eaLnBrk="1" hangingPunct="1"/>
            <a:endParaRPr lang="pt-BR" dirty="0" smtClean="0"/>
          </a:p>
          <a:p>
            <a:pPr eaLnBrk="1" hangingPunct="1">
              <a:buFont typeface="Wingdings 2" pitchFamily="18" charset="2"/>
              <a:buNone/>
            </a:pPr>
            <a:endParaRPr lang="pt-BR" dirty="0" smtClean="0"/>
          </a:p>
          <a:p>
            <a:pPr eaLnBrk="1" hangingPunct="1">
              <a:buFont typeface="Wingdings 2" pitchFamily="18" charset="2"/>
              <a:buNone/>
            </a:pPr>
            <a:endParaRPr lang="pt-BR" dirty="0" smtClean="0"/>
          </a:p>
          <a:p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670781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Agradecemos a todos pela presença e nos colocamos a disposição para sanar quaisquer dúvidas. </a:t>
            </a:r>
            <a:br>
              <a:rPr lang="pt-BR" dirty="0"/>
            </a:br>
            <a:endParaRPr lang="pt-BR" dirty="0"/>
          </a:p>
        </p:txBody>
      </p:sp>
      <p:pic>
        <p:nvPicPr>
          <p:cNvPr id="4" name="Picture 5" descr="C:\Users\User\Desktop\obrigado-por-existir_003.jpg"/>
          <p:cNvPicPr>
            <a:picLocks noChangeAspect="1" noChangeArrowheads="1"/>
          </p:cNvPicPr>
          <p:nvPr/>
        </p:nvPicPr>
        <p:blipFill>
          <a:blip r:embed="rId2"/>
          <a:srcRect b="48750"/>
          <a:stretch>
            <a:fillRect/>
          </a:stretch>
        </p:blipFill>
        <p:spPr bwMode="auto">
          <a:xfrm>
            <a:off x="431075" y="1623668"/>
            <a:ext cx="10829108" cy="50253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24923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1648</TotalTime>
  <Words>2460</Words>
  <Application>Microsoft Office PowerPoint</Application>
  <PresentationFormat>Widescreen</PresentationFormat>
  <Paragraphs>195</Paragraphs>
  <Slides>41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Times New Roman</vt:lpstr>
      <vt:lpstr>Wingdings 2</vt:lpstr>
      <vt:lpstr>Tema do Office</vt:lpstr>
      <vt:lpstr>TREINAMENTO SECRETARIA</vt:lpstr>
      <vt:lpstr>SECRETARIA HOSPITALAR</vt:lpstr>
      <vt:lpstr> Convênios atendidos: </vt:lpstr>
      <vt:lpstr>Regras gerais</vt:lpstr>
      <vt:lpstr> O que ainda tem ocorrido? </vt:lpstr>
      <vt:lpstr> Unimed </vt:lpstr>
      <vt:lpstr> Unimed </vt:lpstr>
      <vt:lpstr> Unimed </vt:lpstr>
      <vt:lpstr> Unimed </vt:lpstr>
      <vt:lpstr> Unimed </vt:lpstr>
      <vt:lpstr> POLÍCIA MILITAR</vt:lpstr>
      <vt:lpstr> POLÍCIA MILITAR</vt:lpstr>
      <vt:lpstr>POLÍCIA MILITAR</vt:lpstr>
      <vt:lpstr>INTRODUÇÃO CONVÊNIOS</vt:lpstr>
      <vt:lpstr>ABRAMGE</vt:lpstr>
      <vt:lpstr>CASSI</vt:lpstr>
      <vt:lpstr>CASSI</vt:lpstr>
      <vt:lpstr>IPSEMG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IPSEMG</vt:lpstr>
      <vt:lpstr>PLANCEL</vt:lpstr>
      <vt:lpstr>POSTAL SAÚDE</vt:lpstr>
      <vt:lpstr>COPASS</vt:lpstr>
      <vt:lpstr>AMAGIS</vt:lpstr>
      <vt:lpstr>PROMED</vt:lpstr>
      <vt:lpstr>Apresentação do PowerPoint</vt:lpstr>
      <vt:lpstr>Apresentação do PowerPoint</vt:lpstr>
      <vt:lpstr>SEPASI</vt:lpstr>
      <vt:lpstr>VITALLIS/NOTREDAME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DEVEMOS FICAR ATENTOS!!!</vt:lpstr>
      <vt:lpstr>Onde podemos melhorar?</vt:lpstr>
      <vt:lpstr>Agradecemos a todos pela presença e nos colocamos a disposição para sanar quaisquer dúvidas.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TREINAMENTO SECRETARIA</dc:title>
  <dc:creator>Sulamar Camila Da Costa</dc:creator>
  <cp:lastModifiedBy>Auditoria</cp:lastModifiedBy>
  <cp:revision>67</cp:revision>
  <dcterms:created xsi:type="dcterms:W3CDTF">2020-11-09T19:43:34Z</dcterms:created>
  <dcterms:modified xsi:type="dcterms:W3CDTF">2025-04-26T13:27:52Z</dcterms:modified>
</cp:coreProperties>
</file>